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31"/>
    <p:restoredTop sz="94702"/>
  </p:normalViewPr>
  <p:slideViewPr>
    <p:cSldViewPr snapToGrid="0">
      <p:cViewPr varScale="1">
        <p:scale>
          <a:sx n="113" d="100"/>
          <a:sy n="113" d="100"/>
        </p:scale>
        <p:origin x="5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7719-7062-B759-EF23-C567C2D0AC8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B0A60DE-63C3-B1B1-5603-F426877B39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242F865-4100-1A5E-D963-9555DA7C9A81}"/>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0C9BC295-07D2-E041-4A7C-72A0758F38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AFEA92-5E04-9F20-3155-D706724DA76E}"/>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400688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EEA2D-2AA0-08DE-31F5-04D9D81C46A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EFD350-6667-B499-2F5C-48DC1B22653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2E5F29-43E3-615A-8794-18DD2E5BA142}"/>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CEF87F8B-E10C-BFC1-CB6D-90CD102D97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46016B-CE24-1525-F85F-B00E506D484B}"/>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65515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EBCA-D835-2B40-2230-0D9218D2140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4959A2B-86A8-59BC-A018-64043DD2EF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650C38-CA3A-85D2-BAE5-A8015E4C7560}"/>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EFD6D5C6-8010-3253-D407-50741EF511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DA234-D6E2-1CD6-E75D-DD8DD9B97A91}"/>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24240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6D38-8443-ED6B-D770-266532CFFEB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9284DE3-7BBB-1AD8-ABEA-CDC76BAB42C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7F728E0-8484-926B-CD01-81106D7D1AB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FE45848-B26F-B906-355D-44F511190503}"/>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6" name="Footer Placeholder 5">
            <a:extLst>
              <a:ext uri="{FF2B5EF4-FFF2-40B4-BE49-F238E27FC236}">
                <a16:creationId xmlns:a16="http://schemas.microsoft.com/office/drawing/2014/main" id="{C9913C75-9596-2489-374E-AFF3927836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76F59-1A05-EDA9-E24E-AF9122600FCC}"/>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4119044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8E68-D7A6-D3D8-5E47-C05ED15E9A4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7072D53-EC1C-FA64-69E2-E324D5F107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CB29F2C-A4D5-444C-5D75-C856A256667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3AAC30F-D8C7-2AEA-558A-AAF78F7FE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2075B37-C60E-4A42-5D8E-0AA62CCC62D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4D7EC9D-B4B3-5BEF-3A1D-C255257199C2}"/>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8" name="Footer Placeholder 7">
            <a:extLst>
              <a:ext uri="{FF2B5EF4-FFF2-40B4-BE49-F238E27FC236}">
                <a16:creationId xmlns:a16="http://schemas.microsoft.com/office/drawing/2014/main" id="{BBE5E1E4-49C0-E495-0FD7-281AFB6E45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3E168B-736A-A21D-1AC9-9BAA2AF5AA29}"/>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908767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6B79-C52D-D257-5E09-08877387FB6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58C87A3-5194-EC4B-AEFF-5866D1CBD05C}"/>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4" name="Footer Placeholder 3">
            <a:extLst>
              <a:ext uri="{FF2B5EF4-FFF2-40B4-BE49-F238E27FC236}">
                <a16:creationId xmlns:a16="http://schemas.microsoft.com/office/drawing/2014/main" id="{85EF5B1D-6320-1C8E-7E34-531F7CF4F6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4F8710-85A0-2C0C-0BA6-B0824563197E}"/>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209142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A609AF-561A-32A3-438D-0616926514CB}"/>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3" name="Footer Placeholder 2">
            <a:extLst>
              <a:ext uri="{FF2B5EF4-FFF2-40B4-BE49-F238E27FC236}">
                <a16:creationId xmlns:a16="http://schemas.microsoft.com/office/drawing/2014/main" id="{4E50EC47-CA05-6AB2-211C-06AEA19FA8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D66CF0-9D63-684A-6E04-95354B697F2A}"/>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199422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0F91-77F1-2EB7-4769-8B7BC0A58B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7350E58-1FD7-7259-F776-C0C39F7B03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7E65E2-1CE6-F63A-DF35-083AC5A96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976D2BF-09C2-2A45-648D-D955DF9FBA6E}"/>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6" name="Footer Placeholder 5">
            <a:extLst>
              <a:ext uri="{FF2B5EF4-FFF2-40B4-BE49-F238E27FC236}">
                <a16:creationId xmlns:a16="http://schemas.microsoft.com/office/drawing/2014/main" id="{0C941AF3-CF7E-C889-01F5-4F1C6D7E11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7C7660-8EE0-38BC-B119-151EBEACA71B}"/>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2952773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9714-358E-1504-87B2-464422A1F8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D31344A-7BAD-012C-947B-2F7D1A605C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3FE64F-8EFA-3BB5-B5D7-874460774C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65A220-3D7E-244F-EC17-B289F8E9B4BE}"/>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6" name="Footer Placeholder 5">
            <a:extLst>
              <a:ext uri="{FF2B5EF4-FFF2-40B4-BE49-F238E27FC236}">
                <a16:creationId xmlns:a16="http://schemas.microsoft.com/office/drawing/2014/main" id="{B5B3881D-2942-DC3F-07A3-68825E4680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F2A35-57FD-D5A7-40D9-CA6A15836F88}"/>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343796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806EC-8ACE-E62D-B385-17BF8669FA1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1FA6E07-1C78-C136-F673-44D9348FE88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72B315-FC8E-BE0A-F4C9-1A51DE34FB0C}"/>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F835C9DF-9439-9EAB-FD36-81AB9C4AC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BD1F92-4E43-45DF-A495-187D4570B160}"/>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3025986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B0C36-9C1F-3D53-5636-845F21BF612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79C62EB-A4E8-C603-C8BE-FEC1EACEFE4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EF54A7-A6E0-41B1-018A-DCED612E4CF6}"/>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0E03EF55-4F87-33CE-231E-FEA338D17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BD3576-D0DB-C965-760E-E0E4584443C3}"/>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87206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91907C-FE74-F8F3-9357-418E78D0F7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D7EA623-DCFC-D98D-8ED7-C60E60DB09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92BDBE-7935-0637-BD7C-435175C7EF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27EC245A-7C39-E667-F384-F54741D3EF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57A7CF-1143-9B24-B4A0-E42A688EA6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6CF6D1-34F8-4448-B50B-FF6C31FCE2CC}" type="slidenum">
              <a:rPr lang="en-US" smtClean="0"/>
              <a:t>‹#›</a:t>
            </a:fld>
            <a:endParaRPr lang="en-US"/>
          </a:p>
        </p:txBody>
      </p:sp>
    </p:spTree>
    <p:extLst>
      <p:ext uri="{BB962C8B-B14F-4D97-AF65-F5344CB8AC3E}">
        <p14:creationId xmlns:p14="http://schemas.microsoft.com/office/powerpoint/2010/main" val="2591819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9FB9-48B1-6388-4D50-C6B857E21EDA}"/>
              </a:ext>
            </a:extLst>
          </p:cNvPr>
          <p:cNvSpPr>
            <a:spLocks noGrp="1"/>
          </p:cNvSpPr>
          <p:nvPr>
            <p:ph type="ctrTitle"/>
          </p:nvPr>
        </p:nvSpPr>
        <p:spPr>
          <a:xfrm>
            <a:off x="675409" y="2387852"/>
            <a:ext cx="10841182" cy="2082296"/>
          </a:xfrm>
        </p:spPr>
        <p:txBody>
          <a:bodyPr>
            <a:noAutofit/>
          </a:bodyPr>
          <a:lstStyle/>
          <a:p>
            <a:r>
              <a:rPr lang="en-US" sz="4800" dirty="0"/>
              <a:t>Lecture : 2</a:t>
            </a:r>
            <a:br>
              <a:rPr lang="en-US" sz="4800" dirty="0"/>
            </a:br>
            <a:br>
              <a:rPr lang="en-US" sz="4800" dirty="0"/>
            </a:br>
            <a:r>
              <a:rPr lang="en-IN" sz="4800" dirty="0">
                <a:solidFill>
                  <a:srgbClr val="000000"/>
                </a:solidFill>
                <a:effectLst/>
                <a:latin typeface="Arial" panose="020B0604020202020204" pitchFamily="34" charset="0"/>
              </a:rPr>
              <a:t>Observational Tools &amp; Techniques</a:t>
            </a:r>
            <a:endParaRPr lang="en-US" sz="4800" dirty="0"/>
          </a:p>
        </p:txBody>
      </p:sp>
    </p:spTree>
    <p:extLst>
      <p:ext uri="{BB962C8B-B14F-4D97-AF65-F5344CB8AC3E}">
        <p14:creationId xmlns:p14="http://schemas.microsoft.com/office/powerpoint/2010/main" val="2231327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2875-4934-72B4-C152-22C274B69529}"/>
              </a:ext>
            </a:extLst>
          </p:cNvPr>
          <p:cNvSpPr>
            <a:spLocks noGrp="1"/>
          </p:cNvSpPr>
          <p:nvPr>
            <p:ph type="title"/>
          </p:nvPr>
        </p:nvSpPr>
        <p:spPr>
          <a:xfrm>
            <a:off x="838200" y="153192"/>
            <a:ext cx="10515600" cy="1325563"/>
          </a:xfrm>
        </p:spPr>
        <p:txBody>
          <a:bodyPr/>
          <a:lstStyle/>
          <a:p>
            <a:pPr algn="ctr"/>
            <a:r>
              <a:rPr lang="en-IN" dirty="0"/>
              <a:t>Pointing the Tube Upward</a:t>
            </a:r>
            <a:endParaRPr lang="en-US" dirty="0"/>
          </a:p>
        </p:txBody>
      </p:sp>
      <p:sp>
        <p:nvSpPr>
          <p:cNvPr id="3" name="Content Placeholder 2">
            <a:extLst>
              <a:ext uri="{FF2B5EF4-FFF2-40B4-BE49-F238E27FC236}">
                <a16:creationId xmlns:a16="http://schemas.microsoft.com/office/drawing/2014/main" id="{EA7F32B5-9CE1-C43A-BF68-D42AFE80CFF8}"/>
              </a:ext>
            </a:extLst>
          </p:cNvPr>
          <p:cNvSpPr>
            <a:spLocks noGrp="1"/>
          </p:cNvSpPr>
          <p:nvPr>
            <p:ph idx="1"/>
          </p:nvPr>
        </p:nvSpPr>
        <p:spPr>
          <a:xfrm>
            <a:off x="640773" y="1690688"/>
            <a:ext cx="4939145" cy="4351338"/>
          </a:xfrm>
        </p:spPr>
        <p:txBody>
          <a:bodyPr>
            <a:normAutofit fontScale="85000" lnSpcReduction="20000"/>
          </a:bodyPr>
          <a:lstStyle/>
          <a:p>
            <a:r>
              <a:rPr lang="en-IN" dirty="0"/>
              <a:t>In 1608, a Dutch eyeglass maker named Hans </a:t>
            </a:r>
            <a:r>
              <a:rPr lang="en-IN" dirty="0" err="1"/>
              <a:t>Lipperhey</a:t>
            </a:r>
            <a:r>
              <a:rPr lang="en-IN" dirty="0"/>
              <a:t> invented the "spyglass" to help sailors spot distant ships.</a:t>
            </a:r>
          </a:p>
          <a:p>
            <a:pPr marL="0" indent="0">
              <a:buNone/>
            </a:pPr>
            <a:endParaRPr lang="en-IN" dirty="0"/>
          </a:p>
          <a:p>
            <a:r>
              <a:rPr lang="en-IN" dirty="0"/>
              <a:t>In 1609, Galileo Galilei built his own version and did something revolutionary: he pointed it at the night sky.</a:t>
            </a:r>
          </a:p>
          <a:p>
            <a:pPr marL="0" indent="0">
              <a:buNone/>
            </a:pPr>
            <a:endParaRPr lang="en-IN" dirty="0"/>
          </a:p>
          <a:p>
            <a:r>
              <a:rPr lang="en-IN" dirty="0"/>
              <a:t>This was a </a:t>
            </a:r>
            <a:r>
              <a:rPr lang="en-IN" b="1" dirty="0"/>
              <a:t>Refracting Telescope</a:t>
            </a:r>
            <a:r>
              <a:rPr lang="en-IN" dirty="0"/>
              <a:t>. It used a curved glass lens at the front to bend (refract) light to a focal point at the back.</a:t>
            </a:r>
          </a:p>
          <a:p>
            <a:endParaRPr lang="en-US" dirty="0"/>
          </a:p>
        </p:txBody>
      </p:sp>
      <p:pic>
        <p:nvPicPr>
          <p:cNvPr id="1026" name="Picture 2" descr="The Inventor Galileo - HLH Prototypes ...">
            <a:extLst>
              <a:ext uri="{FF2B5EF4-FFF2-40B4-BE49-F238E27FC236}">
                <a16:creationId xmlns:a16="http://schemas.microsoft.com/office/drawing/2014/main" id="{E43194A2-2558-3412-D11F-AB14F5E6D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2409" y="1969439"/>
            <a:ext cx="5827328" cy="379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65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3F9DD-CA14-C400-B1C9-63BFBD9CD929}"/>
              </a:ext>
            </a:extLst>
          </p:cNvPr>
          <p:cNvSpPr>
            <a:spLocks noGrp="1"/>
          </p:cNvSpPr>
          <p:nvPr>
            <p:ph type="title"/>
          </p:nvPr>
        </p:nvSpPr>
        <p:spPr/>
        <p:txBody>
          <a:bodyPr/>
          <a:lstStyle/>
          <a:p>
            <a:pPr algn="ctr"/>
            <a:r>
              <a:rPr lang="en-US" dirty="0"/>
              <a:t>What did he observe??</a:t>
            </a:r>
          </a:p>
        </p:txBody>
      </p:sp>
      <p:pic>
        <p:nvPicPr>
          <p:cNvPr id="2052" name="Picture 4" descr="astronomer Galileo Galilei (1564-1642 ...">
            <a:extLst>
              <a:ext uri="{FF2B5EF4-FFF2-40B4-BE49-F238E27FC236}">
                <a16:creationId xmlns:a16="http://schemas.microsoft.com/office/drawing/2014/main" id="{3FB247B6-B3E3-97DF-8ED1-EE99034ED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373024"/>
            <a:ext cx="2806700" cy="2895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Galileo's observations of Jupiter's moons">
            <a:extLst>
              <a:ext uri="{FF2B5EF4-FFF2-40B4-BE49-F238E27FC236}">
                <a16:creationId xmlns:a16="http://schemas.microsoft.com/office/drawing/2014/main" id="{4DF93776-BCFC-396E-73D2-3F3D88B2B5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8550" y="2106324"/>
            <a:ext cx="23749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alileo observations">
            <a:extLst>
              <a:ext uri="{FF2B5EF4-FFF2-40B4-BE49-F238E27FC236}">
                <a16:creationId xmlns:a16="http://schemas.microsoft.com/office/drawing/2014/main" id="{ABE1EAC9-B860-7724-847E-FCD41BA456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6658" y="2392074"/>
            <a:ext cx="381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28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62D40-0B75-0498-05CD-DE5C72C32A93}"/>
              </a:ext>
            </a:extLst>
          </p:cNvPr>
          <p:cNvSpPr>
            <a:spLocks noGrp="1"/>
          </p:cNvSpPr>
          <p:nvPr>
            <p:ph type="title"/>
          </p:nvPr>
        </p:nvSpPr>
        <p:spPr/>
        <p:txBody>
          <a:bodyPr/>
          <a:lstStyle/>
          <a:p>
            <a:r>
              <a:rPr lang="en-US" dirty="0"/>
              <a:t>Galilean Telescope </a:t>
            </a:r>
          </a:p>
        </p:txBody>
      </p:sp>
      <p:sp>
        <p:nvSpPr>
          <p:cNvPr id="3" name="Content Placeholder 2">
            <a:extLst>
              <a:ext uri="{FF2B5EF4-FFF2-40B4-BE49-F238E27FC236}">
                <a16:creationId xmlns:a16="http://schemas.microsoft.com/office/drawing/2014/main" id="{AF5C1AC3-570C-5B07-9188-925F3F6B8B32}"/>
              </a:ext>
            </a:extLst>
          </p:cNvPr>
          <p:cNvSpPr>
            <a:spLocks noGrp="1"/>
          </p:cNvSpPr>
          <p:nvPr>
            <p:ph idx="1"/>
          </p:nvPr>
        </p:nvSpPr>
        <p:spPr>
          <a:xfrm>
            <a:off x="838200" y="1690688"/>
            <a:ext cx="4080164" cy="4802187"/>
          </a:xfrm>
        </p:spPr>
        <p:txBody>
          <a:bodyPr>
            <a:normAutofit fontScale="70000" lnSpcReduction="20000"/>
          </a:bodyPr>
          <a:lstStyle/>
          <a:p>
            <a:r>
              <a:rPr lang="en-IN" dirty="0"/>
              <a:t>The Galilean telescope is a classic refracting telescope. It uses glass to bend (refract) incoming light rays.</a:t>
            </a:r>
          </a:p>
          <a:p>
            <a:pPr marL="0" indent="0">
              <a:buNone/>
            </a:pPr>
            <a:endParaRPr lang="en-IN" dirty="0"/>
          </a:p>
          <a:p>
            <a:r>
              <a:rPr lang="en-IN" b="1" dirty="0"/>
              <a:t>The Two Lenses:</a:t>
            </a:r>
            <a:r>
              <a:rPr lang="en-IN" dirty="0"/>
              <a:t> It relies on a very specific combination of just two pieces of glass:</a:t>
            </a:r>
          </a:p>
          <a:p>
            <a:pPr marL="0" indent="0">
              <a:buNone/>
            </a:pPr>
            <a:endParaRPr lang="en-IN" dirty="0"/>
          </a:p>
          <a:p>
            <a:pPr>
              <a:buFont typeface="+mj-lt"/>
              <a:buAutoNum type="arabicPeriod"/>
            </a:pPr>
            <a:r>
              <a:rPr lang="en-IN" sz="2300" b="1" dirty="0"/>
              <a:t>The Objective Lens (Convex):</a:t>
            </a:r>
            <a:r>
              <a:rPr lang="en-IN" sz="2300" dirty="0"/>
              <a:t> A large lens at the front that bulges outward. It gathers the incoming parallel light rays and bends them inward toward a focal point.</a:t>
            </a:r>
          </a:p>
          <a:p>
            <a:pPr>
              <a:buFont typeface="+mj-lt"/>
              <a:buAutoNum type="arabicPeriod"/>
            </a:pPr>
            <a:r>
              <a:rPr lang="en-IN" sz="2300" b="1" dirty="0"/>
              <a:t>The Eyepiece Lens (Concave):</a:t>
            </a:r>
            <a:r>
              <a:rPr lang="en-IN" sz="2300" dirty="0"/>
              <a:t> A smaller lens at the back that curves inward. Placed </a:t>
            </a:r>
            <a:r>
              <a:rPr lang="en-IN" sz="2300" i="1" dirty="0"/>
              <a:t>before</a:t>
            </a:r>
            <a:r>
              <a:rPr lang="en-IN" sz="2300" dirty="0"/>
              <a:t> the focal point of the objective lens, it intercepts the converging rays and straightens them out again for the human eye</a:t>
            </a:r>
          </a:p>
          <a:p>
            <a:endParaRPr lang="en-US" dirty="0"/>
          </a:p>
        </p:txBody>
      </p:sp>
      <p:pic>
        <p:nvPicPr>
          <p:cNvPr id="4" name="Picture 4" descr="Refractive Telescopes">
            <a:extLst>
              <a:ext uri="{FF2B5EF4-FFF2-40B4-BE49-F238E27FC236}">
                <a16:creationId xmlns:a16="http://schemas.microsoft.com/office/drawing/2014/main" id="{FB5FDC67-1FB2-0BB9-6151-D103C1F5E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5054" y="2379529"/>
            <a:ext cx="6220691" cy="2707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5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9D2A1-2A06-9399-20BB-6796094E2973}"/>
              </a:ext>
            </a:extLst>
          </p:cNvPr>
          <p:cNvSpPr>
            <a:spLocks noGrp="1"/>
          </p:cNvSpPr>
          <p:nvPr>
            <p:ph type="title"/>
          </p:nvPr>
        </p:nvSpPr>
        <p:spPr>
          <a:xfrm>
            <a:off x="838200" y="143800"/>
            <a:ext cx="10515600" cy="1325563"/>
          </a:xfrm>
        </p:spPr>
        <p:txBody>
          <a:bodyPr/>
          <a:lstStyle/>
          <a:p>
            <a:pPr algn="ctr"/>
            <a:r>
              <a:rPr lang="en-IN" dirty="0"/>
              <a:t>The Limits of Refraction</a:t>
            </a:r>
            <a:endParaRPr lang="en-US" dirty="0"/>
          </a:p>
        </p:txBody>
      </p:sp>
      <p:sp>
        <p:nvSpPr>
          <p:cNvPr id="3" name="Content Placeholder 2">
            <a:extLst>
              <a:ext uri="{FF2B5EF4-FFF2-40B4-BE49-F238E27FC236}">
                <a16:creationId xmlns:a16="http://schemas.microsoft.com/office/drawing/2014/main" id="{12FFE95D-2737-B4FC-A205-8C89DEA924B7}"/>
              </a:ext>
            </a:extLst>
          </p:cNvPr>
          <p:cNvSpPr>
            <a:spLocks noGrp="1"/>
          </p:cNvSpPr>
          <p:nvPr>
            <p:ph idx="1"/>
          </p:nvPr>
        </p:nvSpPr>
        <p:spPr>
          <a:xfrm>
            <a:off x="838200" y="1825625"/>
            <a:ext cx="4440382" cy="4351338"/>
          </a:xfrm>
        </p:spPr>
        <p:txBody>
          <a:bodyPr>
            <a:normAutofit fontScale="47500" lnSpcReduction="20000"/>
          </a:bodyPr>
          <a:lstStyle/>
          <a:p>
            <a:r>
              <a:rPr lang="en-IN" b="1" dirty="0"/>
              <a:t>Chromatic Aberration (The Rainbow Blur):</a:t>
            </a:r>
            <a:r>
              <a:rPr lang="en-IN" dirty="0"/>
              <a:t> Glass acts like a prism. It bends shorter wavelengths (blue) sharper than longer wavelengths (red). It is physically impossible to focus all colours at once, leaving every star surrounded by a blurry, glowing rainbow halo.</a:t>
            </a:r>
          </a:p>
          <a:p>
            <a:pPr marL="0" indent="0">
              <a:buNone/>
            </a:pPr>
            <a:endParaRPr lang="en-IN" dirty="0"/>
          </a:p>
          <a:p>
            <a:r>
              <a:rPr lang="en-IN" b="1" dirty="0"/>
              <a:t>Spherical Aberration (The Blurry Edges):</a:t>
            </a:r>
            <a:r>
              <a:rPr lang="en-IN" dirty="0"/>
              <a:t> Early lenses were ground into perfect spheres. However, the outer edges of a spherical lens bend light differently than the centre, meaning the edges of the image were always out of focus.</a:t>
            </a:r>
          </a:p>
          <a:p>
            <a:pPr marL="0" indent="0">
              <a:buNone/>
            </a:pPr>
            <a:endParaRPr lang="en-IN" dirty="0"/>
          </a:p>
          <a:p>
            <a:r>
              <a:rPr lang="en-IN" b="1" dirty="0"/>
              <a:t>The Absurd Solution:</a:t>
            </a:r>
            <a:r>
              <a:rPr lang="en-IN" dirty="0"/>
              <a:t> To minimize these distortions, 17th-century astronomers tried making the lens curves incredibly gentle. This required massive focal lengths.</a:t>
            </a:r>
          </a:p>
          <a:p>
            <a:pPr marL="0" indent="0">
              <a:buNone/>
            </a:pPr>
            <a:endParaRPr lang="en-IN" dirty="0"/>
          </a:p>
          <a:p>
            <a:r>
              <a:rPr lang="en-IN" b="1" dirty="0"/>
              <a:t>"Aerial" Telescopes:</a:t>
            </a:r>
            <a:r>
              <a:rPr lang="en-IN" dirty="0"/>
              <a:t> Astronomers like Hevelius built telescopes over 150 feet long! They couldn't build tubes that big, so they suspended the lens from a giant wooden mast and tried to align it with a hand-held eyepiece using ropes and pulleys in the dark.</a:t>
            </a:r>
          </a:p>
          <a:p>
            <a:endParaRPr lang="en-US" dirty="0"/>
          </a:p>
        </p:txBody>
      </p:sp>
      <p:pic>
        <p:nvPicPr>
          <p:cNvPr id="4098" name="Picture 2" descr="Spherical aberration - Wikipedia">
            <a:extLst>
              <a:ext uri="{FF2B5EF4-FFF2-40B4-BE49-F238E27FC236}">
                <a16:creationId xmlns:a16="http://schemas.microsoft.com/office/drawing/2014/main" id="{829BB1DF-E2B9-6A39-5A9D-D4341E79A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5772" y="4157115"/>
            <a:ext cx="3987795" cy="239267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What is chromatic aberration - Focus Review">
            <a:extLst>
              <a:ext uri="{FF2B5EF4-FFF2-40B4-BE49-F238E27FC236}">
                <a16:creationId xmlns:a16="http://schemas.microsoft.com/office/drawing/2014/main" id="{6E53599A-B004-8C02-E92E-A01EFE692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420" y="1677194"/>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400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6535-7CE9-8D47-2BFB-F370677CB734}"/>
              </a:ext>
            </a:extLst>
          </p:cNvPr>
          <p:cNvSpPr>
            <a:spLocks noGrp="1"/>
          </p:cNvSpPr>
          <p:nvPr>
            <p:ph type="title"/>
          </p:nvPr>
        </p:nvSpPr>
        <p:spPr/>
        <p:txBody>
          <a:bodyPr/>
          <a:lstStyle/>
          <a:p>
            <a:pPr algn="ctr"/>
            <a:r>
              <a:rPr lang="en-IN" dirty="0"/>
              <a:t>Bouncing Light Instead of Bending It</a:t>
            </a:r>
            <a:endParaRPr lang="en-US" dirty="0"/>
          </a:p>
        </p:txBody>
      </p:sp>
      <p:sp>
        <p:nvSpPr>
          <p:cNvPr id="3" name="Content Placeholder 2">
            <a:extLst>
              <a:ext uri="{FF2B5EF4-FFF2-40B4-BE49-F238E27FC236}">
                <a16:creationId xmlns:a16="http://schemas.microsoft.com/office/drawing/2014/main" id="{8824FDA0-0DD3-8261-58A2-401391CB463A}"/>
              </a:ext>
            </a:extLst>
          </p:cNvPr>
          <p:cNvSpPr>
            <a:spLocks noGrp="1"/>
          </p:cNvSpPr>
          <p:nvPr>
            <p:ph idx="1"/>
          </p:nvPr>
        </p:nvSpPr>
        <p:spPr/>
        <p:txBody>
          <a:bodyPr>
            <a:normAutofit fontScale="70000" lnSpcReduction="20000"/>
          </a:bodyPr>
          <a:lstStyle/>
          <a:p>
            <a:r>
              <a:rPr lang="en-IN" dirty="0"/>
              <a:t>Isaac Newton realized that as long as light passes </a:t>
            </a:r>
            <a:r>
              <a:rPr lang="en-IN" i="1" dirty="0"/>
              <a:t>through</a:t>
            </a:r>
            <a:r>
              <a:rPr lang="en-IN" dirty="0"/>
              <a:t> a medium like glass, it will split into a rainbow. To fix the telescope, he had to stop bending light and start bouncing it.</a:t>
            </a:r>
          </a:p>
          <a:p>
            <a:pPr marL="0" indent="0">
              <a:buNone/>
            </a:pPr>
            <a:endParaRPr lang="en-IN" dirty="0"/>
          </a:p>
          <a:p>
            <a:r>
              <a:rPr lang="en-IN" dirty="0"/>
              <a:t>Unlike refraction, reflection does not depend on wavelength. Red light and blue light bounce off a mirrored surface at the exact same angle. Chromatic aberration is instantly eliminated!</a:t>
            </a:r>
          </a:p>
          <a:p>
            <a:pPr marL="0" indent="0">
              <a:buNone/>
            </a:pPr>
            <a:endParaRPr lang="en-IN" dirty="0"/>
          </a:p>
          <a:p>
            <a:r>
              <a:rPr lang="en-IN" b="1" dirty="0"/>
              <a:t>The Newtonian Design:</a:t>
            </a:r>
            <a:r>
              <a:rPr lang="en-IN" dirty="0"/>
              <a:t> 1. </a:t>
            </a:r>
            <a:r>
              <a:rPr lang="en-IN" b="1" dirty="0"/>
              <a:t>Primary Mirror:</a:t>
            </a:r>
            <a:r>
              <a:rPr lang="en-IN" dirty="0"/>
              <a:t> A curved (concave) piece of polished metal at the back of the tube gathers the incoming light and reflects it forward to a focus. 2. </a:t>
            </a:r>
            <a:r>
              <a:rPr lang="en-IN" b="1" dirty="0"/>
              <a:t>Secondary Mirror:</a:t>
            </a:r>
            <a:r>
              <a:rPr lang="en-IN" dirty="0"/>
              <a:t> A small, flat mirror near the front is angled at 45° to bounce that converging light out the side of the tube to an eyepiece.</a:t>
            </a:r>
          </a:p>
          <a:p>
            <a:pPr marL="0" indent="0">
              <a:buNone/>
            </a:pPr>
            <a:endParaRPr lang="en-IN" dirty="0"/>
          </a:p>
          <a:p>
            <a:r>
              <a:rPr lang="en-IN" dirty="0"/>
              <a:t>Newton built a working reflecting telescope that was only 6 inches long, but it magnified up to 40x matching the power of the giant, unwieldy 150-foot aerial refractors!</a:t>
            </a:r>
          </a:p>
          <a:p>
            <a:endParaRPr lang="en-US" dirty="0"/>
          </a:p>
        </p:txBody>
      </p:sp>
    </p:spTree>
    <p:extLst>
      <p:ext uri="{BB962C8B-B14F-4D97-AF65-F5344CB8AC3E}">
        <p14:creationId xmlns:p14="http://schemas.microsoft.com/office/powerpoint/2010/main" val="403753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75C4E-C131-4A09-3A0D-6091BED33EB2}"/>
              </a:ext>
            </a:extLst>
          </p:cNvPr>
          <p:cNvSpPr>
            <a:spLocks noGrp="1"/>
          </p:cNvSpPr>
          <p:nvPr>
            <p:ph type="title"/>
          </p:nvPr>
        </p:nvSpPr>
        <p:spPr/>
        <p:txBody>
          <a:bodyPr/>
          <a:lstStyle/>
          <a:p>
            <a:pPr algn="ctr"/>
            <a:r>
              <a:rPr lang="en-US" dirty="0"/>
              <a:t>Newtonian Telescope </a:t>
            </a:r>
          </a:p>
        </p:txBody>
      </p:sp>
      <p:sp>
        <p:nvSpPr>
          <p:cNvPr id="3" name="Content Placeholder 2">
            <a:extLst>
              <a:ext uri="{FF2B5EF4-FFF2-40B4-BE49-F238E27FC236}">
                <a16:creationId xmlns:a16="http://schemas.microsoft.com/office/drawing/2014/main" id="{31ACB63B-E0E4-D540-5816-5077A3B8CB68}"/>
              </a:ext>
            </a:extLst>
          </p:cNvPr>
          <p:cNvSpPr>
            <a:spLocks noGrp="1"/>
          </p:cNvSpPr>
          <p:nvPr>
            <p:ph idx="1"/>
          </p:nvPr>
        </p:nvSpPr>
        <p:spPr>
          <a:xfrm>
            <a:off x="671945" y="1690688"/>
            <a:ext cx="4492336" cy="5288974"/>
          </a:xfrm>
        </p:spPr>
        <p:txBody>
          <a:bodyPr>
            <a:normAutofit fontScale="70000" lnSpcReduction="20000"/>
          </a:bodyPr>
          <a:lstStyle/>
          <a:p>
            <a:r>
              <a:rPr lang="en-IN" dirty="0">
                <a:effectLst/>
                <a:latin typeface="Google Sans Text"/>
              </a:rPr>
              <a:t>Light enters the open top of the telescope tube and travels unimpeded all the way down to the bottom.</a:t>
            </a:r>
          </a:p>
          <a:p>
            <a:pPr marL="0" indent="0">
              <a:buNone/>
            </a:pPr>
            <a:endParaRPr lang="en-IN" dirty="0">
              <a:effectLst/>
              <a:latin typeface="Google Sans Text"/>
            </a:endParaRPr>
          </a:p>
          <a:p>
            <a:r>
              <a:rPr lang="en-IN" dirty="0">
                <a:effectLst/>
                <a:latin typeface="Google Sans Text"/>
              </a:rPr>
              <a:t>At the very base sits a large, curved (concave) mirror. It catches the incoming parallel photons and reflects them back up the tube, focusing them into a narrowing cone.</a:t>
            </a:r>
          </a:p>
          <a:p>
            <a:pPr marL="0" indent="0">
              <a:buNone/>
            </a:pPr>
            <a:endParaRPr lang="en-IN" dirty="0">
              <a:effectLst/>
              <a:latin typeface="Google Sans Text"/>
            </a:endParaRPr>
          </a:p>
          <a:p>
            <a:r>
              <a:rPr lang="en-IN" dirty="0">
                <a:effectLst/>
                <a:latin typeface="Google Sans Text"/>
              </a:rPr>
              <a:t>Before the light cone can reach its focal point, a tiny, flat mirror suspended in the middle of the tube at a perfect 45-degree angle intercepts the beam.</a:t>
            </a:r>
          </a:p>
          <a:p>
            <a:pPr marL="0" indent="0">
              <a:buNone/>
            </a:pPr>
            <a:endParaRPr lang="en-IN" dirty="0">
              <a:effectLst/>
              <a:latin typeface="Google Sans Text"/>
            </a:endParaRPr>
          </a:p>
          <a:p>
            <a:r>
              <a:rPr lang="en-IN" dirty="0">
                <a:effectLst/>
                <a:latin typeface="Google Sans Text"/>
              </a:rPr>
              <a:t>The secondary mirror bounces the focused light out a hole in the side of the tube, where the observer looks through the eyepiece.</a:t>
            </a:r>
          </a:p>
          <a:p>
            <a:endParaRPr lang="en-US" dirty="0"/>
          </a:p>
        </p:txBody>
      </p:sp>
      <p:pic>
        <p:nvPicPr>
          <p:cNvPr id="6146" name="Picture 2" descr="HOW DOES A NEWTONIAN REFLECTOR TELESCOPE WORK?">
            <a:extLst>
              <a:ext uri="{FF2B5EF4-FFF2-40B4-BE49-F238E27FC236}">
                <a16:creationId xmlns:a16="http://schemas.microsoft.com/office/drawing/2014/main" id="{3E7888E3-6935-9C9F-22E0-F83C2EC4F4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3799" y="2393372"/>
            <a:ext cx="5570001" cy="3002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39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90662-FD52-F0DB-6187-730D0D6542B4}"/>
              </a:ext>
            </a:extLst>
          </p:cNvPr>
          <p:cNvSpPr>
            <a:spLocks noGrp="1"/>
          </p:cNvSpPr>
          <p:nvPr>
            <p:ph type="title"/>
          </p:nvPr>
        </p:nvSpPr>
        <p:spPr/>
        <p:txBody>
          <a:bodyPr/>
          <a:lstStyle/>
          <a:p>
            <a:pPr algn="ctr"/>
            <a:r>
              <a:rPr lang="en-IN" dirty="0"/>
              <a:t>The Comet Hunter's Nuisance (1771)</a:t>
            </a:r>
            <a:endParaRPr lang="en-US" dirty="0"/>
          </a:p>
        </p:txBody>
      </p:sp>
      <p:sp>
        <p:nvSpPr>
          <p:cNvPr id="3" name="Content Placeholder 2">
            <a:extLst>
              <a:ext uri="{FF2B5EF4-FFF2-40B4-BE49-F238E27FC236}">
                <a16:creationId xmlns:a16="http://schemas.microsoft.com/office/drawing/2014/main" id="{5E39043D-B4CF-2318-436C-0CF8EE1F0533}"/>
              </a:ext>
            </a:extLst>
          </p:cNvPr>
          <p:cNvSpPr>
            <a:spLocks noGrp="1"/>
          </p:cNvSpPr>
          <p:nvPr>
            <p:ph idx="1"/>
          </p:nvPr>
        </p:nvSpPr>
        <p:spPr/>
        <p:txBody>
          <a:bodyPr>
            <a:normAutofit fontScale="92500" lnSpcReduction="10000"/>
          </a:bodyPr>
          <a:lstStyle/>
          <a:p>
            <a:r>
              <a:rPr lang="en-IN" dirty="0"/>
              <a:t>In the 18th century, the biggest prize in astronomy was discovering a comet. French astronomer Charles Messier was completely obsessed with finding them.</a:t>
            </a:r>
          </a:p>
          <a:p>
            <a:r>
              <a:rPr lang="en-IN" dirty="0"/>
              <a:t>Using his early telescopes, he kept spotting faint, fuzzy smudges in the deep sky. He would watch them for nights, hoping they would move like a comet. They never did.</a:t>
            </a:r>
          </a:p>
          <a:p>
            <a:r>
              <a:rPr lang="en-IN" dirty="0"/>
              <a:t>Frustrated that these stationary fuzzy objects were wasting his time, he decided to map them so he and other comet hunters could ignore them.</a:t>
            </a:r>
          </a:p>
          <a:p>
            <a:r>
              <a:rPr lang="en-IN" dirty="0"/>
              <a:t>He compiled a list of 110 of these "nuisances." Today, we know them as the </a:t>
            </a:r>
            <a:r>
              <a:rPr lang="en-IN" b="1" dirty="0"/>
              <a:t>Messier Catalogue</a:t>
            </a:r>
            <a:r>
              <a:rPr lang="en-IN" dirty="0"/>
              <a:t> (M1 through M110).</a:t>
            </a:r>
          </a:p>
          <a:p>
            <a:endParaRPr lang="en-US" dirty="0"/>
          </a:p>
        </p:txBody>
      </p:sp>
    </p:spTree>
    <p:extLst>
      <p:ext uri="{BB962C8B-B14F-4D97-AF65-F5344CB8AC3E}">
        <p14:creationId xmlns:p14="http://schemas.microsoft.com/office/powerpoint/2010/main" val="2236237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DF80C-965D-41D0-AD6F-A0AA87D4DB77}"/>
              </a:ext>
            </a:extLst>
          </p:cNvPr>
          <p:cNvSpPr>
            <a:spLocks noGrp="1"/>
          </p:cNvSpPr>
          <p:nvPr>
            <p:ph type="title"/>
          </p:nvPr>
        </p:nvSpPr>
        <p:spPr>
          <a:xfrm>
            <a:off x="838200" y="1641764"/>
            <a:ext cx="10515600" cy="3574472"/>
          </a:xfrm>
        </p:spPr>
        <p:txBody>
          <a:bodyPr>
            <a:normAutofit/>
          </a:bodyPr>
          <a:lstStyle/>
          <a:p>
            <a:pPr algn="ctr"/>
            <a:r>
              <a:rPr lang="en-US" dirty="0"/>
              <a:t>So, we cracked it right?</a:t>
            </a:r>
            <a:br>
              <a:rPr lang="en-US" dirty="0"/>
            </a:br>
            <a:r>
              <a:rPr lang="en-US" dirty="0"/>
              <a:t> </a:t>
            </a:r>
            <a:br>
              <a:rPr lang="en-US" dirty="0"/>
            </a:br>
            <a:r>
              <a:rPr lang="en-US" dirty="0"/>
              <a:t>The secret sauce, the recipe to observe the universe, higher the magnification better will be the view!! </a:t>
            </a:r>
          </a:p>
        </p:txBody>
      </p:sp>
    </p:spTree>
    <p:extLst>
      <p:ext uri="{BB962C8B-B14F-4D97-AF65-F5344CB8AC3E}">
        <p14:creationId xmlns:p14="http://schemas.microsoft.com/office/powerpoint/2010/main" val="2104930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C9013-4D25-FD8C-C025-3D8FB9E61CBC}"/>
              </a:ext>
            </a:extLst>
          </p:cNvPr>
          <p:cNvSpPr>
            <a:spLocks noGrp="1"/>
          </p:cNvSpPr>
          <p:nvPr>
            <p:ph type="title"/>
          </p:nvPr>
        </p:nvSpPr>
        <p:spPr/>
        <p:txBody>
          <a:bodyPr/>
          <a:lstStyle/>
          <a:p>
            <a:pPr algn="ctr"/>
            <a:r>
              <a:rPr lang="en-IN" dirty="0"/>
              <a:t>Building the Ultimate "Light Bucket"</a:t>
            </a:r>
            <a:endParaRPr lang="en-US" dirty="0"/>
          </a:p>
        </p:txBody>
      </p:sp>
      <p:sp>
        <p:nvSpPr>
          <p:cNvPr id="3" name="Content Placeholder 2">
            <a:extLst>
              <a:ext uri="{FF2B5EF4-FFF2-40B4-BE49-F238E27FC236}">
                <a16:creationId xmlns:a16="http://schemas.microsoft.com/office/drawing/2014/main" id="{9C1817D0-3899-3B81-5417-CC6DD8287C8B}"/>
              </a:ext>
            </a:extLst>
          </p:cNvPr>
          <p:cNvSpPr>
            <a:spLocks noGrp="1"/>
          </p:cNvSpPr>
          <p:nvPr>
            <p:ph idx="1"/>
          </p:nvPr>
        </p:nvSpPr>
        <p:spPr/>
        <p:txBody>
          <a:bodyPr>
            <a:normAutofit fontScale="77500" lnSpcReduction="20000"/>
          </a:bodyPr>
          <a:lstStyle/>
          <a:p>
            <a:r>
              <a:rPr lang="en-IN" dirty="0"/>
              <a:t>As astronomers adopted Newton's design, they realized the goal wasn't magnification, but </a:t>
            </a:r>
            <a:r>
              <a:rPr lang="en-IN" b="1" dirty="0"/>
              <a:t>Light Gathering Power</a:t>
            </a:r>
            <a:r>
              <a:rPr lang="en-IN" dirty="0"/>
              <a:t>. To see fainter objects, you simply need a wider bucket to catch more photons.</a:t>
            </a:r>
          </a:p>
          <a:p>
            <a:pPr marL="0" indent="0">
              <a:buNone/>
            </a:pPr>
            <a:endParaRPr lang="en-IN" dirty="0"/>
          </a:p>
          <a:p>
            <a:r>
              <a:rPr lang="en-IN" b="1" dirty="0"/>
              <a:t>William Herschel (1781):</a:t>
            </a:r>
            <a:r>
              <a:rPr lang="en-IN" dirty="0"/>
              <a:t> Built massive reflectors in his backyard. By gathering more light than anyone before him, he spotted a faint object moving against the stars: </a:t>
            </a:r>
            <a:r>
              <a:rPr lang="en-IN" b="1" dirty="0"/>
              <a:t>Uranus </a:t>
            </a:r>
            <a:r>
              <a:rPr lang="en-IN" dirty="0"/>
              <a:t>the first new planet discovered since antiquity.</a:t>
            </a:r>
          </a:p>
          <a:p>
            <a:pPr marL="0" indent="0">
              <a:buNone/>
            </a:pPr>
            <a:endParaRPr lang="en-IN" dirty="0"/>
          </a:p>
          <a:p>
            <a:r>
              <a:rPr lang="en-IN" dirty="0"/>
              <a:t>Lord </a:t>
            </a:r>
            <a:r>
              <a:rPr lang="en-IN" dirty="0" err="1"/>
              <a:t>Rosse</a:t>
            </a:r>
            <a:r>
              <a:rPr lang="en-IN" dirty="0"/>
              <a:t> built a monstrous 72-inch (1.8 meter) wide metal mirror in Ireland, suspended between two massive stone walls. It remained the largest telescope in the world for 70 years.</a:t>
            </a:r>
          </a:p>
          <a:p>
            <a:pPr marL="0" indent="0">
              <a:buNone/>
            </a:pPr>
            <a:endParaRPr lang="en-IN" dirty="0"/>
          </a:p>
          <a:p>
            <a:r>
              <a:rPr lang="en-IN" dirty="0" err="1"/>
              <a:t>Rosse</a:t>
            </a:r>
            <a:r>
              <a:rPr lang="en-IN" dirty="0"/>
              <a:t> was the first human to resolve the shapes of faint "nebulae" and see giant spiral structures. He was looking at other galaxies, though he didn't know it yet!</a:t>
            </a:r>
          </a:p>
          <a:p>
            <a:endParaRPr lang="en-US" dirty="0"/>
          </a:p>
        </p:txBody>
      </p:sp>
    </p:spTree>
    <p:extLst>
      <p:ext uri="{BB962C8B-B14F-4D97-AF65-F5344CB8AC3E}">
        <p14:creationId xmlns:p14="http://schemas.microsoft.com/office/powerpoint/2010/main" val="3445933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EF384-4438-9309-41B5-3CFE8A1AA2AC}"/>
              </a:ext>
            </a:extLst>
          </p:cNvPr>
          <p:cNvSpPr>
            <a:spLocks noGrp="1"/>
          </p:cNvSpPr>
          <p:nvPr>
            <p:ph type="title"/>
          </p:nvPr>
        </p:nvSpPr>
        <p:spPr>
          <a:xfrm>
            <a:off x="838200" y="531379"/>
            <a:ext cx="10515600" cy="1325563"/>
          </a:xfrm>
        </p:spPr>
        <p:txBody>
          <a:bodyPr/>
          <a:lstStyle/>
          <a:p>
            <a:pPr algn="ctr"/>
            <a:r>
              <a:rPr lang="en-US" dirty="0"/>
              <a:t>We are near, but not quiet there yet!!</a:t>
            </a:r>
          </a:p>
        </p:txBody>
      </p:sp>
      <p:sp>
        <p:nvSpPr>
          <p:cNvPr id="3" name="Content Placeholder 2">
            <a:extLst>
              <a:ext uri="{FF2B5EF4-FFF2-40B4-BE49-F238E27FC236}">
                <a16:creationId xmlns:a16="http://schemas.microsoft.com/office/drawing/2014/main" id="{B2462C32-4ACC-DC04-EB70-AB3892AB462C}"/>
              </a:ext>
            </a:extLst>
          </p:cNvPr>
          <p:cNvSpPr>
            <a:spLocks noGrp="1"/>
          </p:cNvSpPr>
          <p:nvPr>
            <p:ph idx="1"/>
          </p:nvPr>
        </p:nvSpPr>
        <p:spPr>
          <a:xfrm>
            <a:off x="838200" y="2686050"/>
            <a:ext cx="10515600" cy="1485899"/>
          </a:xfrm>
        </p:spPr>
        <p:txBody>
          <a:bodyPr>
            <a:normAutofit/>
          </a:bodyPr>
          <a:lstStyle/>
          <a:p>
            <a:pPr marL="0" indent="0" algn="ctr">
              <a:buNone/>
            </a:pPr>
            <a:r>
              <a:rPr lang="en-IN" sz="3200" dirty="0"/>
              <a:t>The human eye is basically a live-stream. It refreshes a fraction of a second, meaning it cannot "build up" light over time to see incredibly faint objects.</a:t>
            </a:r>
            <a:endParaRPr lang="en-US" sz="3200" dirty="0"/>
          </a:p>
        </p:txBody>
      </p:sp>
    </p:spTree>
    <p:extLst>
      <p:ext uri="{BB962C8B-B14F-4D97-AF65-F5344CB8AC3E}">
        <p14:creationId xmlns:p14="http://schemas.microsoft.com/office/powerpoint/2010/main" val="1339209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886A0-06BE-2113-4119-E661155B366F}"/>
              </a:ext>
            </a:extLst>
          </p:cNvPr>
          <p:cNvSpPr>
            <a:spLocks noGrp="1"/>
          </p:cNvSpPr>
          <p:nvPr>
            <p:ph type="title"/>
          </p:nvPr>
        </p:nvSpPr>
        <p:spPr>
          <a:xfrm>
            <a:off x="838200" y="323562"/>
            <a:ext cx="10515600" cy="1325563"/>
          </a:xfrm>
        </p:spPr>
        <p:txBody>
          <a:bodyPr/>
          <a:lstStyle/>
          <a:p>
            <a:pPr algn="ctr"/>
            <a:r>
              <a:rPr lang="en-IN" dirty="0"/>
              <a:t>Replacing the Human Eye with Camera </a:t>
            </a:r>
            <a:endParaRPr lang="en-US" dirty="0"/>
          </a:p>
        </p:txBody>
      </p:sp>
      <p:sp>
        <p:nvSpPr>
          <p:cNvPr id="3" name="Content Placeholder 2">
            <a:extLst>
              <a:ext uri="{FF2B5EF4-FFF2-40B4-BE49-F238E27FC236}">
                <a16:creationId xmlns:a16="http://schemas.microsoft.com/office/drawing/2014/main" id="{F23873AC-51C8-765F-7CB0-68637E94C45F}"/>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IN" dirty="0"/>
              <a:t>In the late 19th century, astronomers started taking the eyepieces out of their giant telescopes and replacing them with glass plates coated in light-sensitive chemicals.</a:t>
            </a:r>
          </a:p>
          <a:p>
            <a:pPr marL="0" indent="0">
              <a:buNone/>
            </a:pPr>
            <a:endParaRPr lang="en-IN" dirty="0"/>
          </a:p>
          <a:p>
            <a:pPr>
              <a:buFont typeface="Arial" panose="020B0604020202020204" pitchFamily="34" charset="0"/>
              <a:buChar char="•"/>
            </a:pPr>
            <a:r>
              <a:rPr lang="en-IN" dirty="0"/>
              <a:t>Unlike an eye, a camera can stay open. By forcing the telescope to perfectly track a target for hours, the chemicals slowly accumulated individual photons over time.</a:t>
            </a:r>
          </a:p>
          <a:p>
            <a:pPr marL="0" indent="0">
              <a:buNone/>
            </a:pPr>
            <a:endParaRPr lang="en-IN" dirty="0"/>
          </a:p>
          <a:p>
            <a:pPr>
              <a:buFont typeface="Arial" panose="020B0604020202020204" pitchFamily="34" charset="0"/>
              <a:buChar char="•"/>
            </a:pPr>
            <a:r>
              <a:rPr lang="en-IN" dirty="0"/>
              <a:t>This was a massive paradigm shift. Photographic plates revealed faint spiral galaxies, dust lanes, and vast nebulae that were physically impossible for the human eye to ever see, no matter how big the telescope's mirror was.</a:t>
            </a:r>
          </a:p>
          <a:p>
            <a:pPr marL="0" indent="0">
              <a:buNone/>
            </a:pPr>
            <a:endParaRPr lang="en-IN" dirty="0"/>
          </a:p>
          <a:p>
            <a:pPr>
              <a:buFont typeface="Arial" panose="020B0604020202020204" pitchFamily="34" charset="0"/>
              <a:buChar char="•"/>
            </a:pPr>
            <a:r>
              <a:rPr lang="en-IN" dirty="0"/>
              <a:t>Astronomy stopped being about a guy sketching what he </a:t>
            </a:r>
            <a:r>
              <a:rPr lang="en-IN" i="1" dirty="0"/>
              <a:t>thought</a:t>
            </a:r>
            <a:r>
              <a:rPr lang="en-IN" dirty="0"/>
              <a:t> he saw in the freezing dark. It became a rigorous science based on permanent, objective evidence.</a:t>
            </a:r>
          </a:p>
          <a:p>
            <a:endParaRPr lang="en-US" dirty="0"/>
          </a:p>
        </p:txBody>
      </p:sp>
    </p:spTree>
    <p:extLst>
      <p:ext uri="{BB962C8B-B14F-4D97-AF65-F5344CB8AC3E}">
        <p14:creationId xmlns:p14="http://schemas.microsoft.com/office/powerpoint/2010/main" val="4069499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E382D5-6655-6342-3624-A77B905A6B17}"/>
              </a:ext>
            </a:extLst>
          </p:cNvPr>
          <p:cNvSpPr>
            <a:spLocks noGrp="1"/>
          </p:cNvSpPr>
          <p:nvPr>
            <p:ph idx="1"/>
          </p:nvPr>
        </p:nvSpPr>
        <p:spPr>
          <a:xfrm>
            <a:off x="838200" y="511968"/>
            <a:ext cx="10515600" cy="5834063"/>
          </a:xfrm>
        </p:spPr>
        <p:txBody>
          <a:bodyPr>
            <a:normAutofit fontScale="92500" lnSpcReduction="20000"/>
          </a:bodyPr>
          <a:lstStyle/>
          <a:p>
            <a:r>
              <a:rPr lang="en-IN" dirty="0"/>
              <a:t>Photographic film was a massive leap forward, but it was incredibly inefficient. It had a </a:t>
            </a:r>
            <a:r>
              <a:rPr lang="en-IN" b="1" dirty="0"/>
              <a:t>Quantum Efficiency (QE) of about 2%</a:t>
            </a:r>
            <a:r>
              <a:rPr lang="en-IN" dirty="0"/>
              <a:t>. That means for every 100 photons that hit the glass plate, only 2 actually triggered a chemical reaction.</a:t>
            </a:r>
          </a:p>
          <a:p>
            <a:pPr marL="0" indent="0">
              <a:buNone/>
            </a:pPr>
            <a:endParaRPr lang="en-IN" dirty="0"/>
          </a:p>
          <a:p>
            <a:r>
              <a:rPr lang="en-IN" dirty="0"/>
              <a:t>Invented in 1969, CCDs replaced chemical plates with a grid of silicon pixels. When a photon hits a pixel, it knocks an electron loose (the photoelectric effect!), trapping it in a "bucket.”</a:t>
            </a:r>
          </a:p>
          <a:p>
            <a:pPr marL="0" indent="0">
              <a:buNone/>
            </a:pPr>
            <a:endParaRPr lang="en-IN" dirty="0"/>
          </a:p>
          <a:p>
            <a:r>
              <a:rPr lang="en-IN" dirty="0"/>
              <a:t>Modern astronomical CCDs are cooled to -100°C to eliminate heat noise, and they boast a </a:t>
            </a:r>
            <a:r>
              <a:rPr lang="en-IN" b="1" dirty="0"/>
              <a:t>Quantum Efficiency of over 90%</a:t>
            </a:r>
            <a:r>
              <a:rPr lang="en-IN" dirty="0"/>
              <a:t>. They catch almost every single photon that strikes them.</a:t>
            </a:r>
          </a:p>
          <a:p>
            <a:pPr marL="0" indent="0">
              <a:buNone/>
            </a:pPr>
            <a:endParaRPr lang="en-IN" dirty="0"/>
          </a:p>
          <a:p>
            <a:r>
              <a:rPr lang="en-IN" dirty="0"/>
              <a:t>Unlike film, which is subjective and messy, a CCD is perfectly linear. If a star is twice as bright, the pixel traps exactly twice as many electrons. This allows for incredibly precise </a:t>
            </a:r>
            <a:r>
              <a:rPr lang="en-IN" b="1" dirty="0"/>
              <a:t>Photometry</a:t>
            </a:r>
            <a:r>
              <a:rPr lang="en-IN" dirty="0"/>
              <a:t> (counting light).</a:t>
            </a:r>
          </a:p>
          <a:p>
            <a:endParaRPr lang="en-US" dirty="0"/>
          </a:p>
        </p:txBody>
      </p:sp>
    </p:spTree>
    <p:extLst>
      <p:ext uri="{BB962C8B-B14F-4D97-AF65-F5344CB8AC3E}">
        <p14:creationId xmlns:p14="http://schemas.microsoft.com/office/powerpoint/2010/main" val="1842670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F876-CCA3-B352-2007-EFAC150911CD}"/>
              </a:ext>
            </a:extLst>
          </p:cNvPr>
          <p:cNvSpPr>
            <a:spLocks noGrp="1"/>
          </p:cNvSpPr>
          <p:nvPr>
            <p:ph type="title"/>
          </p:nvPr>
        </p:nvSpPr>
        <p:spPr/>
        <p:txBody>
          <a:bodyPr/>
          <a:lstStyle/>
          <a:p>
            <a:pPr algn="ctr"/>
            <a:r>
              <a:rPr lang="en-IN" dirty="0"/>
              <a:t>The Illusion of Colour</a:t>
            </a:r>
            <a:endParaRPr lang="en-US" dirty="0"/>
          </a:p>
        </p:txBody>
      </p:sp>
      <p:sp>
        <p:nvSpPr>
          <p:cNvPr id="3" name="Content Placeholder 2">
            <a:extLst>
              <a:ext uri="{FF2B5EF4-FFF2-40B4-BE49-F238E27FC236}">
                <a16:creationId xmlns:a16="http://schemas.microsoft.com/office/drawing/2014/main" id="{94232B34-FCE4-7F7A-0E5C-8890D76C4179}"/>
              </a:ext>
            </a:extLst>
          </p:cNvPr>
          <p:cNvSpPr>
            <a:spLocks noGrp="1"/>
          </p:cNvSpPr>
          <p:nvPr>
            <p:ph idx="1"/>
          </p:nvPr>
        </p:nvSpPr>
        <p:spPr>
          <a:xfrm>
            <a:off x="838200" y="1825625"/>
            <a:ext cx="6871855" cy="4351338"/>
          </a:xfrm>
        </p:spPr>
        <p:txBody>
          <a:bodyPr>
            <a:normAutofit fontScale="70000" lnSpcReduction="20000"/>
          </a:bodyPr>
          <a:lstStyle/>
          <a:p>
            <a:r>
              <a:rPr lang="en-IN" dirty="0"/>
              <a:t>Space telescopes like Hubble and JWST do not have </a:t>
            </a:r>
            <a:r>
              <a:rPr lang="en-IN" dirty="0" err="1"/>
              <a:t>color</a:t>
            </a:r>
            <a:r>
              <a:rPr lang="en-IN" dirty="0"/>
              <a:t> cameras. A CCD sensor only counts </a:t>
            </a:r>
            <a:r>
              <a:rPr lang="en-IN" i="1" dirty="0"/>
              <a:t>how many</a:t>
            </a:r>
            <a:r>
              <a:rPr lang="en-IN" dirty="0"/>
              <a:t> photons hit a pixel; it doesn't know what colour they are. All raw astronomical data is strictly black-and-white.</a:t>
            </a:r>
          </a:p>
          <a:p>
            <a:pPr marL="0" indent="0">
              <a:buNone/>
            </a:pPr>
            <a:endParaRPr lang="en-IN" dirty="0"/>
          </a:p>
          <a:p>
            <a:r>
              <a:rPr lang="en-IN" dirty="0"/>
              <a:t>To determine </a:t>
            </a:r>
            <a:r>
              <a:rPr lang="en-IN" dirty="0" err="1"/>
              <a:t>color</a:t>
            </a:r>
            <a:r>
              <a:rPr lang="en-IN" dirty="0"/>
              <a:t>, we place physical glass filters (Red, Green, Blue, or specific chemical bands like Hydrogen-alpha) in front of the sensor one at a time and take separate exposures.</a:t>
            </a:r>
          </a:p>
          <a:p>
            <a:pPr marL="0" indent="0">
              <a:buNone/>
            </a:pPr>
            <a:endParaRPr lang="en-IN" dirty="0"/>
          </a:p>
          <a:p>
            <a:r>
              <a:rPr lang="en-IN" dirty="0"/>
              <a:t>The industry standard. It isn't a picture file; it is a massive mathematical matrix of numbers (pixel values) combined with a detailed text header containing the telescope's exact coordinates, temperature, and exposure time.</a:t>
            </a:r>
          </a:p>
          <a:p>
            <a:endParaRPr lang="en-US" dirty="0"/>
          </a:p>
        </p:txBody>
      </p:sp>
      <p:pic>
        <p:nvPicPr>
          <p:cNvPr id="7176" name="Picture 8" descr="Video: How scientists colorize pictures ...">
            <a:extLst>
              <a:ext uri="{FF2B5EF4-FFF2-40B4-BE49-F238E27FC236}">
                <a16:creationId xmlns:a16="http://schemas.microsoft.com/office/drawing/2014/main" id="{8282B640-F3F2-7EA3-BE49-3FCB29C6C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0996" y="2277341"/>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322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121F8-3472-6BF1-462C-90A7C72C5523}"/>
              </a:ext>
            </a:extLst>
          </p:cNvPr>
          <p:cNvSpPr>
            <a:spLocks noGrp="1"/>
          </p:cNvSpPr>
          <p:nvPr>
            <p:ph type="title"/>
          </p:nvPr>
        </p:nvSpPr>
        <p:spPr/>
        <p:txBody>
          <a:bodyPr/>
          <a:lstStyle/>
          <a:p>
            <a:pPr algn="ctr"/>
            <a:r>
              <a:rPr lang="en-US" dirty="0"/>
              <a:t>Photometry </a:t>
            </a:r>
          </a:p>
        </p:txBody>
      </p:sp>
      <p:sp>
        <p:nvSpPr>
          <p:cNvPr id="3" name="Content Placeholder 2">
            <a:extLst>
              <a:ext uri="{FF2B5EF4-FFF2-40B4-BE49-F238E27FC236}">
                <a16:creationId xmlns:a16="http://schemas.microsoft.com/office/drawing/2014/main" id="{38FE6C2D-84C3-F19F-1D28-8225393D9512}"/>
              </a:ext>
            </a:extLst>
          </p:cNvPr>
          <p:cNvSpPr>
            <a:spLocks noGrp="1"/>
          </p:cNvSpPr>
          <p:nvPr>
            <p:ph idx="1"/>
          </p:nvPr>
        </p:nvSpPr>
        <p:spPr/>
        <p:txBody>
          <a:bodyPr>
            <a:normAutofit fontScale="62500" lnSpcReduction="20000"/>
          </a:bodyPr>
          <a:lstStyle/>
          <a:p>
            <a:r>
              <a:rPr lang="en-IN" dirty="0"/>
              <a:t>Photometry is simply counting the exact number of photons hitting our CCD sensor from a specific target over a period of time.</a:t>
            </a:r>
          </a:p>
          <a:p>
            <a:pPr marL="0" indent="0">
              <a:buNone/>
            </a:pPr>
            <a:endParaRPr lang="en-IN" dirty="0"/>
          </a:p>
          <a:p>
            <a:r>
              <a:rPr lang="en-IN" dirty="0"/>
              <a:t>We plot this data on a graph: </a:t>
            </a:r>
            <a:r>
              <a:rPr lang="en-IN" b="1" dirty="0"/>
              <a:t>Time</a:t>
            </a:r>
            <a:r>
              <a:rPr lang="en-IN" dirty="0"/>
              <a:t> on the x-axis and </a:t>
            </a:r>
            <a:r>
              <a:rPr lang="en-IN" b="1" dirty="0"/>
              <a:t>Brightness</a:t>
            </a:r>
            <a:r>
              <a:rPr lang="en-IN" dirty="0"/>
              <a:t> (photon count) on the y-axis.</a:t>
            </a:r>
          </a:p>
          <a:p>
            <a:pPr marL="0" indent="0">
              <a:buNone/>
            </a:pPr>
            <a:endParaRPr lang="en-IN" dirty="0"/>
          </a:p>
          <a:p>
            <a:r>
              <a:rPr lang="en-IN" dirty="0"/>
              <a:t>A star's brightness isn't always constant. By watching how the light changes, we can discover invisible phenomena:</a:t>
            </a:r>
          </a:p>
          <a:p>
            <a:pPr marL="0" indent="0">
              <a:buNone/>
            </a:pPr>
            <a:endParaRPr lang="en-IN" dirty="0"/>
          </a:p>
          <a:p>
            <a:pPr>
              <a:buFont typeface="Arial" panose="020B0604020202020204" pitchFamily="34" charset="0"/>
              <a:buChar char="•"/>
            </a:pPr>
            <a:r>
              <a:rPr lang="en-IN" dirty="0"/>
              <a:t>When a planet orbits in front of its host star, it blocks a tiny fraction of the light. We detect that temporary "dip" in the light curve.</a:t>
            </a:r>
          </a:p>
          <a:p>
            <a:pPr marL="0" indent="0">
              <a:buNone/>
            </a:pPr>
            <a:endParaRPr lang="en-IN" dirty="0"/>
          </a:p>
          <a:p>
            <a:pPr>
              <a:buFont typeface="Arial" panose="020B0604020202020204" pitchFamily="34" charset="0"/>
              <a:buChar char="•"/>
            </a:pPr>
            <a:r>
              <a:rPr lang="en-IN" dirty="0"/>
              <a:t>We can track exactly how a star violently explodes and fades away by measuring its brightness curve over weeks.</a:t>
            </a:r>
          </a:p>
          <a:p>
            <a:pPr marL="0" indent="0">
              <a:buNone/>
            </a:pPr>
            <a:endParaRPr lang="en-IN" dirty="0"/>
          </a:p>
          <a:p>
            <a:pPr>
              <a:buFont typeface="Arial" panose="020B0604020202020204" pitchFamily="34" charset="0"/>
              <a:buChar char="•"/>
            </a:pPr>
            <a:r>
              <a:rPr lang="en-IN" dirty="0"/>
              <a:t>Two stars orbiting each other, periodically blocking each other's light.</a:t>
            </a:r>
          </a:p>
          <a:p>
            <a:endParaRPr lang="en-US" dirty="0"/>
          </a:p>
        </p:txBody>
      </p:sp>
    </p:spTree>
    <p:extLst>
      <p:ext uri="{BB962C8B-B14F-4D97-AF65-F5344CB8AC3E}">
        <p14:creationId xmlns:p14="http://schemas.microsoft.com/office/powerpoint/2010/main" val="948690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D159-F735-BA4E-D60A-01D74FD0CA12}"/>
              </a:ext>
            </a:extLst>
          </p:cNvPr>
          <p:cNvSpPr>
            <a:spLocks noGrp="1"/>
          </p:cNvSpPr>
          <p:nvPr>
            <p:ph type="title"/>
          </p:nvPr>
        </p:nvSpPr>
        <p:spPr/>
        <p:txBody>
          <a:bodyPr/>
          <a:lstStyle/>
          <a:p>
            <a:pPr algn="ctr"/>
            <a:r>
              <a:rPr lang="en-IN" dirty="0"/>
              <a:t>Spectroscopy</a:t>
            </a:r>
            <a:endParaRPr lang="en-US" dirty="0"/>
          </a:p>
        </p:txBody>
      </p:sp>
      <p:sp>
        <p:nvSpPr>
          <p:cNvPr id="3" name="Content Placeholder 2">
            <a:extLst>
              <a:ext uri="{FF2B5EF4-FFF2-40B4-BE49-F238E27FC236}">
                <a16:creationId xmlns:a16="http://schemas.microsoft.com/office/drawing/2014/main" id="{33652217-B8D5-4438-0F68-11048AA83F7C}"/>
              </a:ext>
            </a:extLst>
          </p:cNvPr>
          <p:cNvSpPr>
            <a:spLocks noGrp="1"/>
          </p:cNvSpPr>
          <p:nvPr>
            <p:ph idx="1"/>
          </p:nvPr>
        </p:nvSpPr>
        <p:spPr/>
        <p:txBody>
          <a:bodyPr>
            <a:normAutofit fontScale="85000" lnSpcReduction="10000"/>
          </a:bodyPr>
          <a:lstStyle/>
          <a:p>
            <a:r>
              <a:rPr lang="en-IN" dirty="0"/>
              <a:t>Instead of just counting photons, we pass the starlight through a diffraction grating (like a high-tech prism) to split it into its individual wavelengths (colours).</a:t>
            </a:r>
          </a:p>
          <a:p>
            <a:r>
              <a:rPr lang="en-IN" dirty="0"/>
              <a:t>Every chemical element absorbs and emits light at very specific, unique wavelengths.</a:t>
            </a:r>
          </a:p>
          <a:p>
            <a:r>
              <a:rPr lang="en-IN" dirty="0"/>
              <a:t>When we look at a star's spectrum, it looks like a continuous rainbow with very specific dark lines missing. These dark lines act like a barcode.</a:t>
            </a:r>
          </a:p>
          <a:p>
            <a:r>
              <a:rPr lang="en-IN" dirty="0"/>
              <a:t>We can read the barcode to know exactly what elements a star is made of (Hydrogen, Helium, Iron, etc.) without ever touching it.</a:t>
            </a:r>
          </a:p>
          <a:p>
            <a:pPr>
              <a:buFont typeface="Arial" panose="020B0604020202020204" pitchFamily="34" charset="0"/>
              <a:buChar char="•"/>
            </a:pPr>
            <a:r>
              <a:rPr lang="en-IN" dirty="0"/>
              <a:t>The overall peak colour of the spectrum tells us the surface temperature.</a:t>
            </a:r>
          </a:p>
          <a:p>
            <a:pPr>
              <a:buFont typeface="Arial" panose="020B0604020202020204" pitchFamily="34" charset="0"/>
              <a:buChar char="•"/>
            </a:pPr>
            <a:r>
              <a:rPr lang="en-IN" dirty="0"/>
              <a:t>If the entire barcode is shifted toward the red end of the spectrum, it means the object is moving away from us!</a:t>
            </a:r>
          </a:p>
          <a:p>
            <a:endParaRPr lang="en-US" dirty="0"/>
          </a:p>
        </p:txBody>
      </p:sp>
    </p:spTree>
    <p:extLst>
      <p:ext uri="{BB962C8B-B14F-4D97-AF65-F5344CB8AC3E}">
        <p14:creationId xmlns:p14="http://schemas.microsoft.com/office/powerpoint/2010/main" val="2354037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E162D-066F-CD51-C20E-A7137B255541}"/>
              </a:ext>
            </a:extLst>
          </p:cNvPr>
          <p:cNvSpPr>
            <a:spLocks noGrp="1"/>
          </p:cNvSpPr>
          <p:nvPr>
            <p:ph type="title"/>
          </p:nvPr>
        </p:nvSpPr>
        <p:spPr>
          <a:xfrm>
            <a:off x="838200" y="0"/>
            <a:ext cx="10515600" cy="1325563"/>
          </a:xfrm>
        </p:spPr>
        <p:txBody>
          <a:bodyPr/>
          <a:lstStyle/>
          <a:p>
            <a:pPr algn="ctr"/>
            <a:r>
              <a:rPr lang="en-IN" dirty="0"/>
              <a:t>The Modern Observatory</a:t>
            </a:r>
            <a:endParaRPr lang="en-US" dirty="0"/>
          </a:p>
        </p:txBody>
      </p:sp>
      <p:sp>
        <p:nvSpPr>
          <p:cNvPr id="3" name="Content Placeholder 2">
            <a:extLst>
              <a:ext uri="{FF2B5EF4-FFF2-40B4-BE49-F238E27FC236}">
                <a16:creationId xmlns:a16="http://schemas.microsoft.com/office/drawing/2014/main" id="{A4E4F122-508D-6B70-F116-5062A8CC6EBF}"/>
              </a:ext>
            </a:extLst>
          </p:cNvPr>
          <p:cNvSpPr>
            <a:spLocks noGrp="1"/>
          </p:cNvSpPr>
          <p:nvPr>
            <p:ph idx="1"/>
          </p:nvPr>
        </p:nvSpPr>
        <p:spPr>
          <a:xfrm>
            <a:off x="0" y="1482724"/>
            <a:ext cx="5687291" cy="5988339"/>
          </a:xfrm>
        </p:spPr>
        <p:txBody>
          <a:bodyPr>
            <a:normAutofit fontScale="70000" lnSpcReduction="20000"/>
          </a:bodyPr>
          <a:lstStyle/>
          <a:p>
            <a:r>
              <a:rPr lang="en-IN" dirty="0"/>
              <a:t> Whether it's the </a:t>
            </a:r>
            <a:r>
              <a:rPr lang="en-IN" b="1" dirty="0"/>
              <a:t>James Webb Space Telescope (JWST)</a:t>
            </a:r>
            <a:r>
              <a:rPr lang="en-IN" dirty="0"/>
              <a:t> in deep space or the </a:t>
            </a:r>
            <a:r>
              <a:rPr lang="en-IN" b="1" dirty="0"/>
              <a:t>Thirty Meter Telescope (TMT)</a:t>
            </a:r>
            <a:r>
              <a:rPr lang="en-IN" dirty="0"/>
              <a:t> on Earth, these are essentially just massive, hyper-engineered versions of the "Light Buckets" we discussed.</a:t>
            </a:r>
          </a:p>
          <a:p>
            <a:pPr marL="0" indent="0">
              <a:buNone/>
            </a:pPr>
            <a:endParaRPr lang="en-IN" dirty="0"/>
          </a:p>
          <a:p>
            <a:r>
              <a:rPr lang="en-IN" dirty="0"/>
              <a:t>Instead of a human looking through an eyepiece, these machines use super-cooled digital sensors (CCDs) that are nearly 100% efficient at catching photons.</a:t>
            </a:r>
          </a:p>
          <a:p>
            <a:pPr marL="0" indent="0">
              <a:buNone/>
            </a:pPr>
            <a:endParaRPr lang="en-IN" dirty="0"/>
          </a:p>
          <a:p>
            <a:r>
              <a:rPr lang="en-IN" dirty="0"/>
              <a:t>The observatory doesn't send back photos; it beams down raw data arrays—those </a:t>
            </a:r>
            <a:r>
              <a:rPr lang="en-IN" b="1" dirty="0"/>
              <a:t>FITS files</a:t>
            </a:r>
            <a:r>
              <a:rPr lang="en-IN" dirty="0"/>
              <a:t> we talked about filled with numbers that represent photon counts at every pixel.</a:t>
            </a:r>
          </a:p>
          <a:p>
            <a:pPr marL="0" indent="0">
              <a:buNone/>
            </a:pPr>
            <a:endParaRPr lang="en-IN" dirty="0"/>
          </a:p>
          <a:p>
            <a:r>
              <a:rPr lang="en-IN" dirty="0"/>
              <a:t>The real magic happens in instruments like </a:t>
            </a:r>
            <a:r>
              <a:rPr lang="en-IN" b="1" dirty="0"/>
              <a:t>Spectrographs</a:t>
            </a:r>
            <a:r>
              <a:rPr lang="en-IN" dirty="0"/>
              <a:t>. When the JWST "detects" water on a planet 100 light-years away, it’s using the exact same spectroscopy logic we just coded to find the quantum barcodes in that starlight.</a:t>
            </a:r>
          </a:p>
          <a:p>
            <a:endParaRPr lang="en-US" dirty="0"/>
          </a:p>
        </p:txBody>
      </p:sp>
      <p:pic>
        <p:nvPicPr>
          <p:cNvPr id="8198" name="Picture 6" descr="Keck Observatory | Mauna Kea, Hawaii ...">
            <a:extLst>
              <a:ext uri="{FF2B5EF4-FFF2-40B4-BE49-F238E27FC236}">
                <a16:creationId xmlns:a16="http://schemas.microsoft.com/office/drawing/2014/main" id="{0CA5133D-0937-7467-5409-24709BFCB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5241" y="1584324"/>
            <a:ext cx="3606800" cy="2260600"/>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ndian Astronomical Observatory - Wikipedia">
            <a:extLst>
              <a:ext uri="{FF2B5EF4-FFF2-40B4-BE49-F238E27FC236}">
                <a16:creationId xmlns:a16="http://schemas.microsoft.com/office/drawing/2014/main" id="{F1E7458E-3CDC-4ACF-DA95-B489BD217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3991" y="4143376"/>
            <a:ext cx="3289300" cy="246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079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CBAFD-42E5-C5FE-F701-6641C9371B4B}"/>
              </a:ext>
            </a:extLst>
          </p:cNvPr>
          <p:cNvSpPr>
            <a:spLocks noGrp="1"/>
          </p:cNvSpPr>
          <p:nvPr>
            <p:ph type="title"/>
          </p:nvPr>
        </p:nvSpPr>
        <p:spPr>
          <a:xfrm>
            <a:off x="2021032" y="2766218"/>
            <a:ext cx="8149936" cy="1325563"/>
          </a:xfrm>
        </p:spPr>
        <p:txBody>
          <a:bodyPr>
            <a:normAutofit/>
          </a:bodyPr>
          <a:lstStyle/>
          <a:p>
            <a:r>
              <a:rPr lang="en-US" dirty="0"/>
              <a:t>Do we only “Receive” Visible Light? </a:t>
            </a:r>
          </a:p>
        </p:txBody>
      </p:sp>
    </p:spTree>
    <p:extLst>
      <p:ext uri="{BB962C8B-B14F-4D97-AF65-F5344CB8AC3E}">
        <p14:creationId xmlns:p14="http://schemas.microsoft.com/office/powerpoint/2010/main" val="4208478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46D82-DE5A-2430-C65D-87FD32BCBD19}"/>
              </a:ext>
            </a:extLst>
          </p:cNvPr>
          <p:cNvSpPr>
            <a:spLocks noGrp="1"/>
          </p:cNvSpPr>
          <p:nvPr>
            <p:ph type="title"/>
          </p:nvPr>
        </p:nvSpPr>
        <p:spPr/>
        <p:txBody>
          <a:bodyPr/>
          <a:lstStyle/>
          <a:p>
            <a:pPr algn="ctr"/>
            <a:r>
              <a:rPr lang="en-IN" dirty="0"/>
              <a:t>We Are Practically Blind</a:t>
            </a:r>
            <a:endParaRPr lang="en-US" dirty="0"/>
          </a:p>
        </p:txBody>
      </p:sp>
      <p:sp>
        <p:nvSpPr>
          <p:cNvPr id="3" name="Content Placeholder 2">
            <a:extLst>
              <a:ext uri="{FF2B5EF4-FFF2-40B4-BE49-F238E27FC236}">
                <a16:creationId xmlns:a16="http://schemas.microsoft.com/office/drawing/2014/main" id="{FE520C57-5976-AA92-E25A-DF86F4A5CACC}"/>
              </a:ext>
            </a:extLst>
          </p:cNvPr>
          <p:cNvSpPr>
            <a:spLocks noGrp="1"/>
          </p:cNvSpPr>
          <p:nvPr>
            <p:ph idx="1"/>
          </p:nvPr>
        </p:nvSpPr>
        <p:spPr/>
        <p:txBody>
          <a:bodyPr>
            <a:normAutofit fontScale="92500" lnSpcReduction="10000"/>
          </a:bodyPr>
          <a:lstStyle/>
          <a:p>
            <a:r>
              <a:rPr lang="en-IN" dirty="0"/>
              <a:t>Visible light (the colours our eyes can actually see) is just a minuscule fraction of the full Electromagnetic (EM) Spectrum.</a:t>
            </a:r>
          </a:p>
          <a:p>
            <a:pPr marL="0" indent="0">
              <a:buNone/>
            </a:pPr>
            <a:endParaRPr lang="en-IN" dirty="0"/>
          </a:p>
          <a:p>
            <a:r>
              <a:rPr lang="en-IN" dirty="0"/>
              <a:t>We evolved to see visible light </a:t>
            </a:r>
            <a:r>
              <a:rPr lang="en-IN" i="1" dirty="0"/>
              <a:t>because</a:t>
            </a:r>
            <a:r>
              <a:rPr lang="en-IN" dirty="0"/>
              <a:t> our atmosphere lets it through. The atmosphere also lets in Radio waves. However, it completely blocks almost all Ultraviolet, X-ray, Gamma-ray, and most Infrared light.</a:t>
            </a:r>
          </a:p>
          <a:p>
            <a:pPr marL="0" indent="0">
              <a:buNone/>
            </a:pPr>
            <a:endParaRPr lang="en-IN" dirty="0"/>
          </a:p>
          <a:p>
            <a:r>
              <a:rPr lang="en-IN" dirty="0"/>
              <a:t>Different physics produce different light.</a:t>
            </a:r>
          </a:p>
          <a:p>
            <a:pPr lvl="1"/>
            <a:r>
              <a:rPr lang="en-IN" dirty="0"/>
              <a:t>Cold, dusty nebulae glow in </a:t>
            </a:r>
            <a:r>
              <a:rPr lang="en-IN" b="1" dirty="0"/>
              <a:t>Infrared</a:t>
            </a:r>
            <a:r>
              <a:rPr lang="en-IN" dirty="0"/>
              <a:t>.</a:t>
            </a:r>
          </a:p>
          <a:p>
            <a:pPr lvl="1"/>
            <a:r>
              <a:rPr lang="en-IN" dirty="0"/>
              <a:t>Supermassive black holes actively feeding on stars scream in </a:t>
            </a:r>
            <a:r>
              <a:rPr lang="en-IN" b="1" dirty="0"/>
              <a:t>X-rays</a:t>
            </a:r>
            <a:r>
              <a:rPr lang="en-IN" dirty="0"/>
              <a:t>.</a:t>
            </a:r>
          </a:p>
          <a:p>
            <a:pPr lvl="1"/>
            <a:r>
              <a:rPr lang="en-IN" dirty="0"/>
              <a:t>The leftover heat of the Big Bang itself is only visible in </a:t>
            </a:r>
            <a:r>
              <a:rPr lang="en-IN" b="1" dirty="0"/>
              <a:t>Microwaves</a:t>
            </a:r>
            <a:endParaRPr lang="en-IN" dirty="0"/>
          </a:p>
          <a:p>
            <a:endParaRPr lang="en-US" dirty="0"/>
          </a:p>
        </p:txBody>
      </p:sp>
    </p:spTree>
    <p:extLst>
      <p:ext uri="{BB962C8B-B14F-4D97-AF65-F5344CB8AC3E}">
        <p14:creationId xmlns:p14="http://schemas.microsoft.com/office/powerpoint/2010/main" val="249920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DB26F-3B49-7E9A-27DB-CF6BC2C44E78}"/>
              </a:ext>
            </a:extLst>
          </p:cNvPr>
          <p:cNvSpPr>
            <a:spLocks noGrp="1"/>
          </p:cNvSpPr>
          <p:nvPr>
            <p:ph type="title"/>
          </p:nvPr>
        </p:nvSpPr>
        <p:spPr>
          <a:xfrm>
            <a:off x="838200" y="-123247"/>
            <a:ext cx="10515600" cy="1325563"/>
          </a:xfrm>
        </p:spPr>
        <p:txBody>
          <a:bodyPr/>
          <a:lstStyle/>
          <a:p>
            <a:pPr algn="ctr"/>
            <a:r>
              <a:rPr lang="en-US" dirty="0"/>
              <a:t>Radio Astronomy</a:t>
            </a:r>
          </a:p>
        </p:txBody>
      </p:sp>
      <p:sp>
        <p:nvSpPr>
          <p:cNvPr id="3" name="Content Placeholder 2">
            <a:extLst>
              <a:ext uri="{FF2B5EF4-FFF2-40B4-BE49-F238E27FC236}">
                <a16:creationId xmlns:a16="http://schemas.microsoft.com/office/drawing/2014/main" id="{69514C71-B2B4-FE5F-D728-E2571DD40376}"/>
              </a:ext>
            </a:extLst>
          </p:cNvPr>
          <p:cNvSpPr>
            <a:spLocks noGrp="1"/>
          </p:cNvSpPr>
          <p:nvPr>
            <p:ph idx="1"/>
          </p:nvPr>
        </p:nvSpPr>
        <p:spPr>
          <a:xfrm>
            <a:off x="100445" y="1202316"/>
            <a:ext cx="6425045" cy="4959640"/>
          </a:xfrm>
        </p:spPr>
        <p:txBody>
          <a:bodyPr>
            <a:normAutofit fontScale="85000" lnSpcReduction="20000"/>
          </a:bodyPr>
          <a:lstStyle/>
          <a:p>
            <a:r>
              <a:rPr lang="en-IN" dirty="0">
                <a:effectLst/>
                <a:latin typeface="Google Sans Text"/>
              </a:rPr>
              <a:t>Unlike X-rays or UV light, radio waves easily pass through both Earth's atmosphere and thick clouds of interstellar dust. We can observe them from the ground, day or night, and even in the rain!</a:t>
            </a:r>
          </a:p>
          <a:p>
            <a:pPr marL="0" indent="0">
              <a:buNone/>
            </a:pPr>
            <a:endParaRPr lang="en-IN" dirty="0">
              <a:effectLst/>
              <a:latin typeface="Google Sans Text"/>
            </a:endParaRPr>
          </a:p>
          <a:p>
            <a:r>
              <a:rPr lang="en-IN" dirty="0">
                <a:effectLst/>
                <a:latin typeface="Google Sans Text"/>
              </a:rPr>
              <a:t>Because radio wavelengths are massive (ranging from </a:t>
            </a:r>
            <a:r>
              <a:rPr lang="en-IN" dirty="0" err="1">
                <a:effectLst/>
                <a:latin typeface="Google Sans Text"/>
              </a:rPr>
              <a:t>millimeters</a:t>
            </a:r>
            <a:r>
              <a:rPr lang="en-IN" dirty="0">
                <a:effectLst/>
                <a:latin typeface="Google Sans Text"/>
              </a:rPr>
              <a:t> to dozens of meters long), we don't need perfectly polished glass mirrors. We use giant metal dishes or wire meshes to bounce these long waves into a central receiver.</a:t>
            </a:r>
          </a:p>
          <a:p>
            <a:pPr marL="0" indent="0">
              <a:buNone/>
            </a:pPr>
            <a:endParaRPr lang="en-IN" dirty="0">
              <a:effectLst/>
              <a:latin typeface="Google Sans Text"/>
            </a:endParaRPr>
          </a:p>
          <a:p>
            <a:r>
              <a:rPr lang="en-IN" dirty="0">
                <a:effectLst/>
                <a:latin typeface="Google Sans Text"/>
              </a:rPr>
              <a:t>But but but…..Because the wavelength of radio light is so huge, the diameter of the dish must be absolutely massive just to get a blurry image. A radio telescope the size of a football field has worse resolution than the human eye!</a:t>
            </a:r>
          </a:p>
          <a:p>
            <a:endParaRPr lang="en-US" dirty="0"/>
          </a:p>
        </p:txBody>
      </p:sp>
      <p:pic>
        <p:nvPicPr>
          <p:cNvPr id="9224" name="Picture 8" descr="Radio astronomy: from amateur roots to worldwide groups – Physics World">
            <a:extLst>
              <a:ext uri="{FF2B5EF4-FFF2-40B4-BE49-F238E27FC236}">
                <a16:creationId xmlns:a16="http://schemas.microsoft.com/office/drawing/2014/main" id="{1396EEE7-3611-5BB4-311C-2B4842AF3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5938" y="2036618"/>
            <a:ext cx="5045007" cy="336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337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B2409-CA91-5C40-A3DE-9B518912EE33}"/>
              </a:ext>
            </a:extLst>
          </p:cNvPr>
          <p:cNvSpPr>
            <a:spLocks noGrp="1"/>
          </p:cNvSpPr>
          <p:nvPr>
            <p:ph type="title"/>
          </p:nvPr>
        </p:nvSpPr>
        <p:spPr>
          <a:xfrm>
            <a:off x="838200" y="18255"/>
            <a:ext cx="10515600" cy="1325563"/>
          </a:xfrm>
        </p:spPr>
        <p:txBody>
          <a:bodyPr/>
          <a:lstStyle/>
          <a:p>
            <a:pPr algn="ctr"/>
            <a:r>
              <a:rPr lang="en-IN" dirty="0"/>
              <a:t>Interferometry</a:t>
            </a:r>
            <a:endParaRPr lang="en-US" dirty="0"/>
          </a:p>
        </p:txBody>
      </p:sp>
      <p:sp>
        <p:nvSpPr>
          <p:cNvPr id="3" name="Content Placeholder 2">
            <a:extLst>
              <a:ext uri="{FF2B5EF4-FFF2-40B4-BE49-F238E27FC236}">
                <a16:creationId xmlns:a16="http://schemas.microsoft.com/office/drawing/2014/main" id="{9862AEDF-61B2-FFD7-D4AA-E7E14CF90AF5}"/>
              </a:ext>
            </a:extLst>
          </p:cNvPr>
          <p:cNvSpPr>
            <a:spLocks noGrp="1"/>
          </p:cNvSpPr>
          <p:nvPr>
            <p:ph idx="1"/>
          </p:nvPr>
        </p:nvSpPr>
        <p:spPr>
          <a:xfrm>
            <a:off x="838200" y="1534680"/>
            <a:ext cx="10515600" cy="5323320"/>
          </a:xfrm>
        </p:spPr>
        <p:txBody>
          <a:bodyPr>
            <a:normAutofit fontScale="77500" lnSpcReduction="20000"/>
          </a:bodyPr>
          <a:lstStyle/>
          <a:p>
            <a:r>
              <a:rPr lang="en-IN" dirty="0"/>
              <a:t>If we can't build one massive dish, we build dozens of smaller ones and spread them miles apart.</a:t>
            </a:r>
          </a:p>
          <a:p>
            <a:pPr marL="0" indent="0">
              <a:buNone/>
            </a:pPr>
            <a:endParaRPr lang="en-IN" dirty="0"/>
          </a:p>
          <a:p>
            <a:r>
              <a:rPr lang="en-IN" dirty="0"/>
              <a:t>By pointing all the dishes at the same object and using supercomputers to perfectly synchronize the radio waves arriving at each dish down to the nanosecond, they mathematically act like pieces of one giant, invisible mirror.</a:t>
            </a:r>
          </a:p>
          <a:p>
            <a:pPr marL="0" indent="0">
              <a:buNone/>
            </a:pPr>
            <a:endParaRPr lang="en-IN" dirty="0"/>
          </a:p>
          <a:p>
            <a:r>
              <a:rPr lang="en-IN" dirty="0"/>
              <a:t>The resolution is no longer limited by the size of a single dish, but by the maximum distance (the baseline) between the furthest dishes in the array.</a:t>
            </a:r>
          </a:p>
          <a:p>
            <a:pPr marL="0" indent="0">
              <a:buNone/>
            </a:pPr>
            <a:endParaRPr lang="en-IN" dirty="0"/>
          </a:p>
          <a:p>
            <a:r>
              <a:rPr lang="en-IN" b="1" dirty="0"/>
              <a:t>The Event Horizon Telescope (EHT):</a:t>
            </a:r>
            <a:r>
              <a:rPr lang="en-IN" dirty="0"/>
              <a:t> By linking radio observatories across the entire planet from Hawaii to Spain to the South Pole astronomers created a virtual radio telescope the size of the Earth!</a:t>
            </a:r>
          </a:p>
          <a:p>
            <a:pPr marL="0" indent="0">
              <a:buNone/>
            </a:pPr>
            <a:endParaRPr lang="en-IN" dirty="0"/>
          </a:p>
          <a:p>
            <a:r>
              <a:rPr lang="en-IN" dirty="0"/>
              <a:t>This technique gave us enough resolution to pierce through the dense, hot gas of galaxy M87 and capture the very first direct image of a supermassive black hole's shadow.</a:t>
            </a:r>
          </a:p>
          <a:p>
            <a:endParaRPr lang="en-US" dirty="0"/>
          </a:p>
        </p:txBody>
      </p:sp>
    </p:spTree>
    <p:extLst>
      <p:ext uri="{BB962C8B-B14F-4D97-AF65-F5344CB8AC3E}">
        <p14:creationId xmlns:p14="http://schemas.microsoft.com/office/powerpoint/2010/main" val="1185605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D27-1824-59A4-12BC-04D9F48AAD1A}"/>
              </a:ext>
            </a:extLst>
          </p:cNvPr>
          <p:cNvSpPr>
            <a:spLocks noGrp="1"/>
          </p:cNvSpPr>
          <p:nvPr>
            <p:ph type="title"/>
          </p:nvPr>
        </p:nvSpPr>
        <p:spPr>
          <a:xfrm>
            <a:off x="155865" y="365125"/>
            <a:ext cx="11876808" cy="1325563"/>
          </a:xfrm>
        </p:spPr>
        <p:txBody>
          <a:bodyPr/>
          <a:lstStyle/>
          <a:p>
            <a:pPr algn="ctr"/>
            <a:r>
              <a:rPr lang="en-US" dirty="0"/>
              <a:t>Now the question is do we only receive light??!!</a:t>
            </a:r>
          </a:p>
        </p:txBody>
      </p:sp>
      <p:sp>
        <p:nvSpPr>
          <p:cNvPr id="3" name="Content Placeholder 2">
            <a:extLst>
              <a:ext uri="{FF2B5EF4-FFF2-40B4-BE49-F238E27FC236}">
                <a16:creationId xmlns:a16="http://schemas.microsoft.com/office/drawing/2014/main" id="{EE602123-AD09-4D80-4ED2-E4EBE384D81A}"/>
              </a:ext>
            </a:extLst>
          </p:cNvPr>
          <p:cNvSpPr>
            <a:spLocks noGrp="1"/>
          </p:cNvSpPr>
          <p:nvPr>
            <p:ph idx="1"/>
          </p:nvPr>
        </p:nvSpPr>
        <p:spPr/>
        <p:txBody>
          <a:bodyPr>
            <a:normAutofit fontScale="70000" lnSpcReduction="20000"/>
          </a:bodyPr>
          <a:lstStyle/>
          <a:p>
            <a:pPr>
              <a:buFont typeface="Arial" panose="020B0604020202020204" pitchFamily="34" charset="0"/>
              <a:buChar char="•"/>
            </a:pPr>
            <a:r>
              <a:rPr lang="en-IN" dirty="0"/>
              <a:t>Photons are great, but they can be blocked by dust, absorbed by gas, or trapped entirely by black holes. Fortunately, the universe sends us more than just light.</a:t>
            </a:r>
          </a:p>
          <a:p>
            <a:pPr marL="0" indent="0">
              <a:buNone/>
            </a:pPr>
            <a:endParaRPr lang="en-IN" dirty="0"/>
          </a:p>
          <a:p>
            <a:pPr>
              <a:buFont typeface="Arial" panose="020B0604020202020204" pitchFamily="34" charset="0"/>
              <a:buChar char="•"/>
            </a:pPr>
            <a:r>
              <a:rPr lang="en-IN" b="1" dirty="0"/>
              <a:t>Cosmic Rays:</a:t>
            </a:r>
            <a:r>
              <a:rPr lang="en-IN" dirty="0"/>
              <a:t> We are constantly being bombarded by physical, subatomic shrapnel. These are protons and heavy atomic nuclei blasted out by supernovae and active galaxies, traveling at nearly the speed of light. When they hit our atmosphere, they shatter into a shower of secondary particles.</a:t>
            </a:r>
          </a:p>
          <a:p>
            <a:pPr marL="0" indent="0">
              <a:buNone/>
            </a:pPr>
            <a:endParaRPr lang="en-IN" dirty="0"/>
          </a:p>
          <a:p>
            <a:pPr>
              <a:buFont typeface="Arial" panose="020B0604020202020204" pitchFamily="34" charset="0"/>
              <a:buChar char="•"/>
            </a:pPr>
            <a:r>
              <a:rPr lang="en-IN" b="1" dirty="0"/>
              <a:t>Neutrinos (The Ghost Particles):</a:t>
            </a:r>
            <a:r>
              <a:rPr lang="en-IN" dirty="0"/>
              <a:t> Trillions of these nearly massless particles pass through your body every second. Because they almost never interact with normal matter, they fly straight out of the dense cores of exploding stars unimpeded. To catch them, we had to build a giant detector (</a:t>
            </a:r>
            <a:r>
              <a:rPr lang="en-IN" dirty="0" err="1"/>
              <a:t>IceCube</a:t>
            </a:r>
            <a:r>
              <a:rPr lang="en-IN" dirty="0"/>
              <a:t>) buried inside a cubic </a:t>
            </a:r>
            <a:r>
              <a:rPr lang="en-IN" dirty="0" err="1"/>
              <a:t>kilometer</a:t>
            </a:r>
            <a:r>
              <a:rPr lang="en-IN" dirty="0"/>
              <a:t> of solid ice in Antarctica!</a:t>
            </a:r>
          </a:p>
          <a:p>
            <a:pPr marL="0" indent="0">
              <a:buNone/>
            </a:pPr>
            <a:endParaRPr lang="en-IN" dirty="0"/>
          </a:p>
          <a:p>
            <a:pPr>
              <a:buFont typeface="Arial" panose="020B0604020202020204" pitchFamily="34" charset="0"/>
              <a:buChar char="•"/>
            </a:pPr>
            <a:r>
              <a:rPr lang="en-IN" b="1" dirty="0"/>
              <a:t>Physical Samples:</a:t>
            </a:r>
            <a:r>
              <a:rPr lang="en-IN" dirty="0"/>
              <a:t> Sometimes, the universe just hands us the data. Meteorites, Moon rocks, and asteroid samples (like from the OSIRIS-</a:t>
            </a:r>
            <a:r>
              <a:rPr lang="en-IN" dirty="0" err="1"/>
              <a:t>REx</a:t>
            </a:r>
            <a:r>
              <a:rPr lang="en-IN" dirty="0"/>
              <a:t> mission) allow us to put pieces of the cosmos directly under a microscope.</a:t>
            </a:r>
          </a:p>
          <a:p>
            <a:endParaRPr lang="en-US" dirty="0"/>
          </a:p>
        </p:txBody>
      </p:sp>
    </p:spTree>
    <p:extLst>
      <p:ext uri="{BB962C8B-B14F-4D97-AF65-F5344CB8AC3E}">
        <p14:creationId xmlns:p14="http://schemas.microsoft.com/office/powerpoint/2010/main" val="258329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Why the Big Bang Produced Something Rather Than Nothing - The New York Times">
            <a:extLst>
              <a:ext uri="{FF2B5EF4-FFF2-40B4-BE49-F238E27FC236}">
                <a16:creationId xmlns:a16="http://schemas.microsoft.com/office/drawing/2014/main" id="{7CCACFAB-606E-DE7E-6915-A14781A8D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26" y="1620981"/>
            <a:ext cx="5089814" cy="339320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IceCube – IceCube">
            <a:extLst>
              <a:ext uri="{FF2B5EF4-FFF2-40B4-BE49-F238E27FC236}">
                <a16:creationId xmlns:a16="http://schemas.microsoft.com/office/drawing/2014/main" id="{4E503115-72BD-7129-2DD7-0FAFAA0CAC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1855" y="934603"/>
            <a:ext cx="6354619" cy="4765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556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4E6E-6CB2-452A-A419-FD4532F4E907}"/>
              </a:ext>
            </a:extLst>
          </p:cNvPr>
          <p:cNvSpPr>
            <a:spLocks noGrp="1"/>
          </p:cNvSpPr>
          <p:nvPr>
            <p:ph type="title"/>
          </p:nvPr>
        </p:nvSpPr>
        <p:spPr>
          <a:xfrm>
            <a:off x="838200" y="18255"/>
            <a:ext cx="10515600" cy="1325563"/>
          </a:xfrm>
        </p:spPr>
        <p:txBody>
          <a:bodyPr/>
          <a:lstStyle/>
          <a:p>
            <a:pPr algn="ctr"/>
            <a:r>
              <a:rPr lang="en-IN" dirty="0"/>
              <a:t>Ripples in Spacetime</a:t>
            </a:r>
            <a:endParaRPr lang="en-US" dirty="0"/>
          </a:p>
        </p:txBody>
      </p:sp>
      <p:sp>
        <p:nvSpPr>
          <p:cNvPr id="3" name="Content Placeholder 2">
            <a:extLst>
              <a:ext uri="{FF2B5EF4-FFF2-40B4-BE49-F238E27FC236}">
                <a16:creationId xmlns:a16="http://schemas.microsoft.com/office/drawing/2014/main" id="{7067CED9-9C49-2B06-A5C4-29E77688E4FB}"/>
              </a:ext>
            </a:extLst>
          </p:cNvPr>
          <p:cNvSpPr>
            <a:spLocks noGrp="1"/>
          </p:cNvSpPr>
          <p:nvPr>
            <p:ph idx="1"/>
          </p:nvPr>
        </p:nvSpPr>
        <p:spPr>
          <a:xfrm>
            <a:off x="838200" y="1825625"/>
            <a:ext cx="10515600" cy="4351338"/>
          </a:xfrm>
        </p:spPr>
        <p:txBody>
          <a:bodyPr>
            <a:normAutofit fontScale="70000" lnSpcReduction="20000"/>
          </a:bodyPr>
          <a:lstStyle/>
          <a:p>
            <a:r>
              <a:rPr lang="en-IN" dirty="0"/>
              <a:t>In 2015, we detected something that wasn't a photon and wasn't a particle. We detected a vibration in the fabric of spacetime itself.</a:t>
            </a:r>
          </a:p>
          <a:p>
            <a:pPr marL="0" indent="0">
              <a:buNone/>
            </a:pPr>
            <a:endParaRPr lang="en-IN" dirty="0"/>
          </a:p>
          <a:p>
            <a:r>
              <a:rPr lang="en-IN" dirty="0"/>
              <a:t>When incredibly massive, dense objects like two black holes spiral toward each other and merge, they accelerate so violently that they radiate gravitational energy, sending ripples across the universe at the speed of light.</a:t>
            </a:r>
          </a:p>
          <a:p>
            <a:endParaRPr lang="en-IN" dirty="0"/>
          </a:p>
          <a:p>
            <a:r>
              <a:rPr lang="en-IN" dirty="0"/>
              <a:t>Just like a bell rings after being struck with a hammer, a newly formed black hole "rings" as it settles into a stable state. This produces a very specific fading wave pattern characterized by Quasi-Normal Modes.</a:t>
            </a:r>
          </a:p>
          <a:p>
            <a:pPr marL="0" indent="0">
              <a:buNone/>
            </a:pPr>
            <a:endParaRPr lang="en-IN" dirty="0"/>
          </a:p>
          <a:p>
            <a:r>
              <a:rPr lang="en-IN" dirty="0"/>
              <a:t>We cannot "see" these waves. Instead, we use massive, L-shaped laser interferometers with arms 4 kilometres long. As a wave passes through Earth, it literally stretches and squeezes the planet, changing the length of those laser arms by a fraction of the width of a proton!</a:t>
            </a:r>
          </a:p>
          <a:p>
            <a:endParaRPr lang="en-US" dirty="0"/>
          </a:p>
        </p:txBody>
      </p:sp>
    </p:spTree>
    <p:extLst>
      <p:ext uri="{BB962C8B-B14F-4D97-AF65-F5344CB8AC3E}">
        <p14:creationId xmlns:p14="http://schemas.microsoft.com/office/powerpoint/2010/main" val="553990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reation of a deep learning algorithm to detect unexpected gravitational  wave events">
            <a:extLst>
              <a:ext uri="{FF2B5EF4-FFF2-40B4-BE49-F238E27FC236}">
                <a16:creationId xmlns:a16="http://schemas.microsoft.com/office/drawing/2014/main" id="{FF9C1F47-D615-5EEC-7F08-E638240A9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55" y="1625520"/>
            <a:ext cx="5107872" cy="4054015"/>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Trio wins physics Nobel Prize for gravitational wave detection">
            <a:extLst>
              <a:ext uri="{FF2B5EF4-FFF2-40B4-BE49-F238E27FC236}">
                <a16:creationId xmlns:a16="http://schemas.microsoft.com/office/drawing/2014/main" id="{BA2B8A93-43EF-7D71-7448-CC7866DC6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770" y="1625519"/>
            <a:ext cx="5947975" cy="4054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660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DE537-F99C-2BAA-DEDC-65231C0AFCB0}"/>
              </a:ext>
            </a:extLst>
          </p:cNvPr>
          <p:cNvSpPr>
            <a:spLocks noGrp="1"/>
          </p:cNvSpPr>
          <p:nvPr>
            <p:ph type="title"/>
          </p:nvPr>
        </p:nvSpPr>
        <p:spPr>
          <a:xfrm>
            <a:off x="193964" y="162646"/>
            <a:ext cx="11804072" cy="1325563"/>
          </a:xfrm>
        </p:spPr>
        <p:txBody>
          <a:bodyPr/>
          <a:lstStyle/>
          <a:p>
            <a:pPr algn="ctr"/>
            <a:r>
              <a:rPr lang="en-IN" dirty="0"/>
              <a:t>The Golden Rule of Data (Signal-to-Noise Ratio)</a:t>
            </a:r>
            <a:endParaRPr lang="en-US" dirty="0"/>
          </a:p>
        </p:txBody>
      </p:sp>
      <p:sp>
        <p:nvSpPr>
          <p:cNvPr id="3" name="Content Placeholder 2">
            <a:extLst>
              <a:ext uri="{FF2B5EF4-FFF2-40B4-BE49-F238E27FC236}">
                <a16:creationId xmlns:a16="http://schemas.microsoft.com/office/drawing/2014/main" id="{D8C3D120-564C-DBFE-32D4-CACEE9D1B06F}"/>
              </a:ext>
            </a:extLst>
          </p:cNvPr>
          <p:cNvSpPr>
            <a:spLocks noGrp="1"/>
          </p:cNvSpPr>
          <p:nvPr>
            <p:ph idx="1"/>
          </p:nvPr>
        </p:nvSpPr>
        <p:spPr>
          <a:xfrm>
            <a:off x="838200" y="1662978"/>
            <a:ext cx="10515600" cy="5032376"/>
          </a:xfrm>
        </p:spPr>
        <p:txBody>
          <a:bodyPr>
            <a:normAutofit fontScale="92500" lnSpcReduction="20000"/>
          </a:bodyPr>
          <a:lstStyle/>
          <a:p>
            <a:r>
              <a:rPr lang="en-IN" b="1" dirty="0">
                <a:effectLst/>
                <a:latin typeface="Google Sans Text"/>
              </a:rPr>
              <a:t>The Signal:</a:t>
            </a:r>
            <a:r>
              <a:rPr lang="en-IN" dirty="0">
                <a:effectLst/>
                <a:latin typeface="Google Sans Text"/>
              </a:rPr>
              <a:t> The actual photons (or gravitational waves!) arriving from your target. This is the physics you want to measure.</a:t>
            </a:r>
          </a:p>
          <a:p>
            <a:pPr marL="0" indent="0">
              <a:buNone/>
            </a:pPr>
            <a:endParaRPr lang="en-IN" dirty="0">
              <a:effectLst/>
              <a:latin typeface="Google Sans Text"/>
            </a:endParaRPr>
          </a:p>
          <a:p>
            <a:r>
              <a:rPr lang="en-IN" b="1" dirty="0">
                <a:effectLst/>
                <a:latin typeface="Google Sans Text"/>
              </a:rPr>
              <a:t>The Noise:</a:t>
            </a:r>
            <a:r>
              <a:rPr lang="en-IN" dirty="0">
                <a:effectLst/>
                <a:latin typeface="Google Sans Text"/>
              </a:rPr>
              <a:t> Random interference hiding your data. It comes from the sky glowing, thermal heat inside the telescope's electronics, and the quantum randomness of light itself (Poisson noise).</a:t>
            </a:r>
          </a:p>
          <a:p>
            <a:pPr marL="0" indent="0">
              <a:buNone/>
            </a:pPr>
            <a:endParaRPr lang="en-IN" dirty="0">
              <a:effectLst/>
              <a:latin typeface="Google Sans Text"/>
            </a:endParaRPr>
          </a:p>
          <a:p>
            <a:r>
              <a:rPr lang="en-IN" b="1" dirty="0">
                <a:effectLst/>
                <a:latin typeface="Google Sans Text"/>
              </a:rPr>
              <a:t>The Equation:</a:t>
            </a:r>
            <a:r>
              <a:rPr lang="en-IN" dirty="0">
                <a:effectLst/>
                <a:latin typeface="Google Sans Text"/>
              </a:rPr>
              <a:t> In astronomy, the noise scales with the </a:t>
            </a:r>
            <a:r>
              <a:rPr lang="en-IN" i="1" dirty="0">
                <a:effectLst/>
                <a:latin typeface="Google Sans Text"/>
              </a:rPr>
              <a:t>square root</a:t>
            </a:r>
            <a:r>
              <a:rPr lang="en-IN" dirty="0">
                <a:effectLst/>
                <a:latin typeface="Google Sans Text"/>
              </a:rPr>
              <a:t> of the total photons collected N.</a:t>
            </a:r>
          </a:p>
          <a:p>
            <a:pPr marL="0" indent="0">
              <a:buNone/>
            </a:pPr>
            <a:endParaRPr lang="en-IN" dirty="0">
              <a:effectLst/>
              <a:latin typeface="Google Sans Text"/>
            </a:endParaRPr>
          </a:p>
          <a:p>
            <a:r>
              <a:rPr lang="en-IN" dirty="0">
                <a:effectLst/>
                <a:latin typeface="Google Sans Text"/>
              </a:rPr>
              <a:t>To double your SNR, you can't just double your exposure time; you have to take </a:t>
            </a:r>
            <a:r>
              <a:rPr lang="en-IN" b="1" dirty="0">
                <a:effectLst/>
                <a:latin typeface="Google Sans Text"/>
              </a:rPr>
              <a:t>four times</a:t>
            </a:r>
            <a:r>
              <a:rPr lang="en-IN" dirty="0">
                <a:effectLst/>
                <a:latin typeface="Google Sans Text"/>
              </a:rPr>
              <a:t> as many exposures. This is why astrophotographers and space telescopes take hundreds of individual images and mathematically average (stack) them together!</a:t>
            </a:r>
          </a:p>
          <a:p>
            <a:endParaRPr lang="en-US" dirty="0"/>
          </a:p>
        </p:txBody>
      </p:sp>
    </p:spTree>
    <p:extLst>
      <p:ext uri="{BB962C8B-B14F-4D97-AF65-F5344CB8AC3E}">
        <p14:creationId xmlns:p14="http://schemas.microsoft.com/office/powerpoint/2010/main" val="2559740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TotalTime>
  <Words>2738</Words>
  <Application>Microsoft Macintosh PowerPoint</Application>
  <PresentationFormat>Widescreen</PresentationFormat>
  <Paragraphs>153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Google Sans Text</vt:lpstr>
      <vt:lpstr>Office Theme</vt:lpstr>
      <vt:lpstr>Lecture : 2  Observational Tools &amp; Techniques</vt:lpstr>
      <vt:lpstr>Pointing the Tube Upward</vt:lpstr>
      <vt:lpstr>What did he observe??</vt:lpstr>
      <vt:lpstr>Galilean Telescope </vt:lpstr>
      <vt:lpstr>The Limits of Refraction</vt:lpstr>
      <vt:lpstr>Bouncing Light Instead of Bending It</vt:lpstr>
      <vt:lpstr>Newtonian Telescope </vt:lpstr>
      <vt:lpstr>The Comet Hunter's Nuisance (1771)</vt:lpstr>
      <vt:lpstr>So, we cracked it right?   The secret sauce, the recipe to observe the universe, higher the magnification better will be the view!! </vt:lpstr>
      <vt:lpstr>Building the Ultimate "Light Bucket"</vt:lpstr>
      <vt:lpstr>We are near, but not quiet there yet!!</vt:lpstr>
      <vt:lpstr>Replacing the Human Eye with Camera </vt:lpstr>
      <vt:lpstr>PowerPoint Presentation</vt:lpstr>
      <vt:lpstr>The Illusion of Colour</vt:lpstr>
      <vt:lpstr>Photometry </vt:lpstr>
      <vt:lpstr>Spectroscopy</vt:lpstr>
      <vt:lpstr>The Modern Observatory</vt:lpstr>
      <vt:lpstr>Do we only “Receive” Visible Light? </vt:lpstr>
      <vt:lpstr>We Are Practically Blind</vt:lpstr>
      <vt:lpstr>Radio Astronomy</vt:lpstr>
      <vt:lpstr>Interferometry</vt:lpstr>
      <vt:lpstr>Now the question is do we only receive light??!!</vt:lpstr>
      <vt:lpstr>PowerPoint Presentation</vt:lpstr>
      <vt:lpstr>Ripples in Spacetime</vt:lpstr>
      <vt:lpstr>PowerPoint Presentation</vt:lpstr>
      <vt:lpstr>The Golden Rule of Data (Signal-to-Noise Ratio)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Rachh</dc:creator>
  <cp:lastModifiedBy>Gaurav Rachh</cp:lastModifiedBy>
  <cp:revision>2</cp:revision>
  <dcterms:created xsi:type="dcterms:W3CDTF">2026-03-03T05:35:52Z</dcterms:created>
  <dcterms:modified xsi:type="dcterms:W3CDTF">2026-03-03T19:41:37Z</dcterms:modified>
</cp:coreProperties>
</file>