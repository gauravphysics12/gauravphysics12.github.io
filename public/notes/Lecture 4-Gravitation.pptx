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7"/>
    <p:restoredTop sz="94694"/>
  </p:normalViewPr>
  <p:slideViewPr>
    <p:cSldViewPr snapToGrid="0">
      <p:cViewPr varScale="1">
        <p:scale>
          <a:sx n="121" d="100"/>
          <a:sy n="121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9AAF-37A4-046A-EA1A-18D18710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A1B94-C703-BCEB-C714-877299227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FABAC-95EB-C5F7-510A-B8B79A98F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89CE6-EA67-19E3-F8CF-F569CA10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D0913-CC60-246D-D038-E9A5DEFC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7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B56A-1535-AF9D-DC30-F9CCBA40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D4F3A-E578-2B8D-D49D-DEC3F5BD4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F9F06-4C57-6974-033B-0BFE862D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BE114-E2CA-D026-9EF2-FCB454461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18923-8387-6A3F-C023-A18135BE5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1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CC1D-F340-6ECE-D71F-F822C25F3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A57F9-A2B2-65E0-335D-2AD758465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B0C1-3AF3-5EB0-3509-3F0B9A33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A114B-911F-0FCB-BDC4-4124C659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23841-F816-623D-7E26-655AC2432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9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534F8-D27B-147B-6B0C-A3510015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19596-D5A8-9166-8B6E-FA6D5F062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3C369-0DB0-4187-2A51-CB77628A2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93A30-BE7D-81D4-331D-C8378F47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64EDF-EB39-5A9C-90F0-7B4A011E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AF882-1119-6E25-6EAE-0930D2E7C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08B-5783-20D9-1BF9-97B26EEF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B8B1A-EC28-289D-4161-D1475FF7F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0FEA1-696D-AB99-6FC6-5BFA44BF2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2FCB13-11E3-0692-E809-D292CA5A0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9EECBC-91E5-E87C-AE48-6496AD30D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9AF894-2A3F-47E2-0D6B-4EC35CE44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3E04D4-398A-9C09-D7C1-8578DC33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F9855-0793-D9E2-0F9D-04F5CD3E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0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A91D-73A1-719F-A3C4-E779E1C76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FEC0A-17B0-6F8A-F87A-9B5295049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B499F-38E4-BC3E-C0AC-D8D39D0E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CE329-1BD6-9D1C-6AC0-FAD8D4525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1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C499F0-E3A5-CA1E-449F-CE48055B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19C5E-7F8C-4218-F4B2-07D21549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2B4F8-D7B6-2020-7FB5-CC5D504E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8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1540-0A33-8998-F07E-EEC2029E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1714B-41FF-51E4-885A-E64F203B9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DD2B5-800F-42AD-635A-5C6E1FC31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8E955-C79F-84C7-BACA-73A6D3D9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F107D-5C19-6149-6235-B74B532B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F24E6-294F-2AE1-1AEA-D538B952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4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691BA-1692-041E-0CD7-7C439DE5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E20B1-AFBE-05A4-059A-0121B7C69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E1FB6-3B36-671B-477D-B6182E5E6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545FD-67A1-FCEA-3F4B-9FB8C4EB6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63B51-509F-7E9B-BE32-2508A26B1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DF6B5-7820-1061-BA54-A374A7E8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4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A64B5-A9C8-B474-7332-D8D15697C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40AC5-34BB-9543-6776-118C98651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67D8D-F34B-1257-AD08-B586B0C8A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DB7F5-8DB0-1CD1-2844-E3A23303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9A5E0-E7C0-4D03-95CA-21EEABA6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0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9E4E7-292F-3B66-8EB9-D48AC1913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7BF76-259D-6B70-0268-E8CBCA1D4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00B16-F230-5750-028D-A8F5AFF3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8C240-F519-C0A5-2054-26D3C00B2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6B295-68B4-F99E-F6B3-6527A3C35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9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3AFBC8-EA14-3C3E-64DA-7F18F1DB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82F87-7C4A-D7A2-3675-FABC3B3DF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4235D-3541-70A1-E09F-606843BED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197A7-592D-7043-9C25-7F6D30B3CBB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11A31-D653-00A2-384A-DCFFAFBF5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282B-34DA-C8B2-CA0D-D2E916B5D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B2F58-D39A-5C49-8DE4-9F5DFC6DD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1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C6B7-9103-ABAC-10AD-3BC7A5A0B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Lecture : 4</a:t>
            </a:r>
            <a:br>
              <a:rPr lang="en-US" sz="6000" dirty="0"/>
            </a:br>
            <a:br>
              <a:rPr lang="en-US" sz="6000" dirty="0"/>
            </a:br>
            <a:r>
              <a:rPr lang="en-US" sz="6000" dirty="0"/>
              <a:t>Mechanics &amp; Gravitation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99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5A82-9842-71B9-D317-B5369076D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Newton Law’s of Gravitation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152A4-273D-728C-61E6-2D6833F9C9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Gravity isn't just something that pulls apples to the Earth. It is a fundamental property of mass itself. </a:t>
                </a:r>
                <a:r>
                  <a:rPr lang="en-IN" i="1" dirty="0"/>
                  <a:t>Every</a:t>
                </a:r>
                <a:r>
                  <a:rPr lang="en-IN" dirty="0"/>
                  <a:t> piece of matter in the universe attracts </a:t>
                </a:r>
                <a:r>
                  <a:rPr lang="en-IN" i="1" dirty="0"/>
                  <a:t>every</a:t>
                </a:r>
                <a:r>
                  <a:rPr lang="en-IN" dirty="0"/>
                  <a:t> other piece of matter.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IN" dirty="0"/>
                  <a:t>In 1687, Isaac Newton quantified this invisible tether with a single, elegant formula: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152A4-273D-728C-61E6-2D6833F9C9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0567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AC27-D51F-5555-4A65-313A2425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Orbital Mechanics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C822F4-6070-AA5A-0180-9522775718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2436"/>
                <a:ext cx="10515600" cy="53755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IN" b="1" dirty="0">
                    <a:effectLst/>
                    <a:latin typeface="Google Sans Text"/>
                  </a:rPr>
                  <a:t>Energy Dictates Geometry:</a:t>
                </a:r>
                <a:r>
                  <a:rPr lang="en-IN" dirty="0">
                    <a:effectLst/>
                    <a:latin typeface="Google Sans Text"/>
                  </a:rPr>
                  <a:t> The total specific orbital energy (</a:t>
                </a:r>
                <a14:m>
                  <m:oMath xmlns:m="http://schemas.openxmlformats.org/officeDocument/2006/math"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IN" dirty="0">
                    <a:effectLst/>
                    <a:latin typeface="Google Sans Text"/>
                  </a:rPr>
                  <a:t>)the sum of kinetic and potential energy—determines the exact physical shape of an object's path through space.</a:t>
                </a:r>
              </a:p>
              <a:p>
                <a:endParaRPr lang="en-IN" dirty="0">
                  <a:effectLst/>
                  <a:latin typeface="Google Sans Text"/>
                </a:endParaRPr>
              </a:p>
              <a:p>
                <a:pPr marL="0" indent="0" algn="ctr">
                  <a:buNone/>
                </a:pPr>
                <a:r>
                  <a:rPr lang="en-IN" dirty="0">
                    <a:effectLst/>
                    <a:latin typeface="Google Sans Text"/>
                  </a:rPr>
                  <a:t>(</a:t>
                </a:r>
                <a14:m>
                  <m:oMath xmlns:m="http://schemas.openxmlformats.org/officeDocument/2006/math"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𝐺𝑀</m:t>
                        </m:r>
                      </m:num>
                      <m:den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IN" dirty="0">
                    <a:effectLst/>
                    <a:latin typeface="Google Sans Text"/>
                  </a:rPr>
                  <a:t>)</a:t>
                </a:r>
              </a:p>
              <a:p>
                <a:pPr marL="0" indent="0" algn="ctr">
                  <a:buNone/>
                </a:pPr>
                <a:endParaRPr lang="en-IN" dirty="0">
                  <a:effectLst/>
                  <a:latin typeface="Google Sans Text"/>
                </a:endParaRPr>
              </a:p>
              <a:p>
                <a14:m>
                  <m:oMath xmlns:m="http://schemas.openxmlformats.org/officeDocument/2006/math"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>
                    <a:effectLst/>
                    <a:latin typeface="Google Sans Text"/>
                  </a:rPr>
                  <a:t>Bound Orbits (</a:t>
                </a:r>
                <a14:m>
                  <m:oMath xmlns:m="http://schemas.openxmlformats.org/officeDocument/2006/math">
                    <m:r>
                      <a:rPr lang="en-IN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IN" b="1" dirty="0">
                    <a:effectLst/>
                    <a:latin typeface="Google Sans Text"/>
                  </a:rPr>
                  <a:t>):</a:t>
                </a:r>
                <a:r>
                  <a:rPr lang="en-IN" dirty="0">
                    <a:effectLst/>
                    <a:latin typeface="Google Sans Text"/>
                  </a:rPr>
                  <a:t> If the kinetic energy is less than the depth of the gravitational well, the object is trapped. This creates closed loops: </a:t>
                </a:r>
                <a:r>
                  <a:rPr lang="en-IN" b="1" dirty="0">
                    <a:effectLst/>
                    <a:latin typeface="Google Sans Text"/>
                  </a:rPr>
                  <a:t>Circles</a:t>
                </a:r>
                <a:r>
                  <a:rPr lang="en-IN" dirty="0">
                    <a:effectLst/>
                    <a:latin typeface="Google Sans Text"/>
                  </a:rPr>
                  <a:t> (perfectly balanced) and </a:t>
                </a:r>
                <a:r>
                  <a:rPr lang="en-IN" b="1" dirty="0">
                    <a:effectLst/>
                    <a:latin typeface="Google Sans Text"/>
                  </a:rPr>
                  <a:t>Ellipses</a:t>
                </a:r>
                <a:r>
                  <a:rPr lang="en-IN" dirty="0">
                    <a:effectLst/>
                    <a:latin typeface="Google Sans Text"/>
                  </a:rPr>
                  <a:t> (eccentric orbits, like all planets in our solar system).</a:t>
                </a:r>
              </a:p>
              <a:p>
                <a:pPr marL="0" indent="0">
                  <a:buNone/>
                </a:pPr>
                <a:endParaRPr lang="en-IN" dirty="0">
                  <a:effectLst/>
                  <a:latin typeface="Google Sans Text"/>
                </a:endParaRPr>
              </a:p>
              <a:p>
                <a:r>
                  <a:rPr lang="en-IN" b="1" dirty="0">
                    <a:effectLst/>
                    <a:latin typeface="Google Sans Text"/>
                  </a:rPr>
                  <a:t>The Escape Boundary (</a:t>
                </a:r>
                <a14:m>
                  <m:oMath xmlns:m="http://schemas.openxmlformats.org/officeDocument/2006/math">
                    <m:r>
                      <a:rPr lang="en-IN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b="1" dirty="0">
                    <a:effectLst/>
                    <a:latin typeface="Google Sans Text"/>
                  </a:rPr>
                  <a:t>):</a:t>
                </a:r>
                <a:r>
                  <a:rPr lang="en-IN" dirty="0">
                    <a:effectLst/>
                    <a:latin typeface="Google Sans Text"/>
                  </a:rPr>
                  <a:t> If you hit the exact escape velocity, the orbit breaks open into a </a:t>
                </a:r>
                <a:r>
                  <a:rPr lang="en-IN" b="1" dirty="0">
                    <a:effectLst/>
                    <a:latin typeface="Google Sans Text"/>
                  </a:rPr>
                  <a:t>Parabola</a:t>
                </a:r>
                <a:r>
                  <a:rPr lang="en-IN" dirty="0">
                    <a:effectLst/>
                    <a:latin typeface="Google Sans Text"/>
                  </a:rPr>
                  <a:t>. The object will coast to infinity and stop.</a:t>
                </a:r>
              </a:p>
              <a:p>
                <a:pPr marL="0" indent="0">
                  <a:buNone/>
                </a:pPr>
                <a:endParaRPr lang="en-IN" dirty="0">
                  <a:effectLst/>
                  <a:latin typeface="Google Sans Text"/>
                </a:endParaRPr>
              </a:p>
              <a:p>
                <a:r>
                  <a:rPr lang="en-IN" b="1" dirty="0">
                    <a:effectLst/>
                    <a:latin typeface="Google Sans Text"/>
                  </a:rPr>
                  <a:t>Unbound Trajectories (</a:t>
                </a:r>
                <a14:m>
                  <m:oMath xmlns:m="http://schemas.openxmlformats.org/officeDocument/2006/math">
                    <m:r>
                      <a:rPr lang="en-IN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IN" b="1" dirty="0">
                    <a:effectLst/>
                    <a:latin typeface="Google Sans Text"/>
                  </a:rPr>
                  <a:t>):</a:t>
                </a:r>
                <a:r>
                  <a:rPr lang="en-IN" dirty="0">
                    <a:effectLst/>
                    <a:latin typeface="Google Sans Text"/>
                  </a:rPr>
                  <a:t> If an object enters a system with excess kinetic energy, it travels on a </a:t>
                </a:r>
                <a:r>
                  <a:rPr lang="en-IN" b="1" dirty="0">
                    <a:effectLst/>
                    <a:latin typeface="Google Sans Text"/>
                  </a:rPr>
                  <a:t>Hyperbola</a:t>
                </a:r>
                <a:r>
                  <a:rPr lang="en-IN" dirty="0">
                    <a:effectLst/>
                    <a:latin typeface="Google Sans Text"/>
                  </a:rPr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C822F4-6070-AA5A-0180-952277571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2436"/>
                <a:ext cx="10515600" cy="5375563"/>
              </a:xfrm>
              <a:blipFill>
                <a:blip r:embed="rId2"/>
                <a:stretch>
                  <a:fillRect l="-844" t="-2594" b="-2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68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ircular Orbit - an overview | ScienceDirect Topics">
            <a:extLst>
              <a:ext uri="{FF2B5EF4-FFF2-40B4-BE49-F238E27FC236}">
                <a16:creationId xmlns:a16="http://schemas.microsoft.com/office/drawing/2014/main" id="{A2324AA3-FB4B-1BD8-DBA2-F65F3DDB1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892" y="354554"/>
            <a:ext cx="6539623" cy="614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094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EE46-8D0A-6DA9-6A83-B2B76A90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Lagrange Points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529BD-8250-1C15-EB0D-FD8FB6DAB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67" y="1498247"/>
            <a:ext cx="4636911" cy="5341498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Gravitational Equilibrium: Lagrange points occur where gravitational forces of two massive bodies and orbital motion balance perfectly.</a:t>
            </a:r>
          </a:p>
          <a:p>
            <a:br>
              <a:rPr lang="en-IN" dirty="0"/>
            </a:br>
            <a:r>
              <a:rPr lang="en-IN" dirty="0"/>
              <a:t>Five Special Locations: L1, L2, L3 lie along the line connecting the two bodies. L4 and L5 form equilateral triangles with them.</a:t>
            </a:r>
          </a:p>
          <a:p>
            <a:br>
              <a:rPr lang="en-IN" dirty="0"/>
            </a:br>
            <a:r>
              <a:rPr lang="en-IN" dirty="0"/>
              <a:t>Stable vs Unstable: L4 and L5 are naturally stable. L1, L2, and L3 require active station-keeping.</a:t>
            </a:r>
          </a:p>
          <a:p>
            <a:br>
              <a:rPr lang="en-IN" dirty="0"/>
            </a:br>
            <a:r>
              <a:rPr lang="en-IN" dirty="0"/>
              <a:t>Strategic Real Estate: Ideal for space telescopes and observation satellites.</a:t>
            </a:r>
          </a:p>
          <a:p>
            <a:br>
              <a:rPr lang="en-IN" dirty="0"/>
            </a:br>
            <a:r>
              <a:rPr lang="en-IN" dirty="0"/>
              <a:t>Minimal Fuel Advantage: Objects placed here require very little energy to maintain position.</a:t>
            </a:r>
            <a:endParaRPr lang="en-US" dirty="0"/>
          </a:p>
        </p:txBody>
      </p:sp>
      <p:pic>
        <p:nvPicPr>
          <p:cNvPr id="1028" name="Picture 4" descr="What is a Lagrange Point? - NASA Science">
            <a:extLst>
              <a:ext uri="{FF2B5EF4-FFF2-40B4-BE49-F238E27FC236}">
                <a16:creationId xmlns:a16="http://schemas.microsoft.com/office/drawing/2014/main" id="{D50180F9-2212-2E5B-0950-74A418D52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137" y="1498247"/>
            <a:ext cx="5391663" cy="471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8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509DA-0200-9DE5-A004-9FCE1CE7E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Tidal Forces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E427-7CC2-6B18-6B7E-4E812A519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255" y="1343817"/>
            <a:ext cx="4717473" cy="5495927"/>
          </a:xfrm>
        </p:spPr>
        <p:txBody>
          <a:bodyPr>
            <a:normAutofit/>
          </a:bodyPr>
          <a:lstStyle/>
          <a:p>
            <a:r>
              <a:rPr lang="en-IN" dirty="0"/>
              <a:t>Gravity weakens with distance, so the near side of an object feels stronger pull than the far side.</a:t>
            </a:r>
          </a:p>
          <a:p>
            <a:br>
              <a:rPr lang="en-IN" dirty="0"/>
            </a:br>
            <a:r>
              <a:rPr lang="en-IN" dirty="0"/>
              <a:t>Tidal Bulges: This difference stretches bodies, producing ocean tides on Earth.</a:t>
            </a:r>
          </a:p>
          <a:p>
            <a:br>
              <a:rPr lang="en-IN" dirty="0"/>
            </a:br>
            <a:r>
              <a:rPr lang="en-IN" dirty="0"/>
              <a:t>Tidal Locking: Over time, rotation synchronizes with orbit, as seen in Earth’s Moon.</a:t>
            </a:r>
            <a:endParaRPr lang="en-US" dirty="0"/>
          </a:p>
        </p:txBody>
      </p:sp>
      <p:pic>
        <p:nvPicPr>
          <p:cNvPr id="3076" name="Picture 4" descr="Tidal Forces">
            <a:extLst>
              <a:ext uri="{FF2B5EF4-FFF2-40B4-BE49-F238E27FC236}">
                <a16:creationId xmlns:a16="http://schemas.microsoft.com/office/drawing/2014/main" id="{0EE525DD-695E-039F-9479-6B10ABFE3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327" y="2783377"/>
            <a:ext cx="5770418" cy="2308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40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95AA-11BF-91AD-6481-BD38253EB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Roche Limit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37859-4544-995B-049A-299D2BF96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" y="1533380"/>
            <a:ext cx="5396345" cy="5680437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Definition: The minimum distance at which a satellite can orbit without being torn apart by tidal forces.</a:t>
            </a:r>
          </a:p>
          <a:p>
            <a:br>
              <a:rPr lang="en-IN" dirty="0"/>
            </a:br>
            <a:r>
              <a:rPr lang="en-IN" dirty="0"/>
              <a:t>Structural Dependence: Rigid bodies survive closer than fluid bodies.</a:t>
            </a:r>
          </a:p>
          <a:p>
            <a:br>
              <a:rPr lang="en-IN" dirty="0"/>
            </a:br>
            <a:r>
              <a:rPr lang="en-IN" dirty="0"/>
              <a:t>Ring Formation: Planetary rings often form from material inside the Roche limit.</a:t>
            </a:r>
          </a:p>
          <a:p>
            <a:br>
              <a:rPr lang="en-IN" dirty="0"/>
            </a:br>
            <a:r>
              <a:rPr lang="en-IN" dirty="0"/>
              <a:t>Mathematical Form: Depends on densities of primary and secondary bodies.</a:t>
            </a:r>
          </a:p>
          <a:p>
            <a:br>
              <a:rPr lang="en-IN" dirty="0"/>
            </a:br>
            <a:r>
              <a:rPr lang="en-IN" dirty="0"/>
              <a:t>Cosmic Sculptor: Explains why moons are absent within certain orbital radii.</a:t>
            </a:r>
            <a:endParaRPr lang="en-US" dirty="0"/>
          </a:p>
        </p:txBody>
      </p:sp>
      <p:pic>
        <p:nvPicPr>
          <p:cNvPr id="2050" name="Picture 2" descr="Roche Limit – The Wandering Star">
            <a:extLst>
              <a:ext uri="{FF2B5EF4-FFF2-40B4-BE49-F238E27FC236}">
                <a16:creationId xmlns:a16="http://schemas.microsoft.com/office/drawing/2014/main" id="{A6C13A38-AB2C-CD7C-0486-A14C6F794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930" y="1533380"/>
            <a:ext cx="4576706" cy="479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4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B4E7-5867-B754-CCDA-72DC57E7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5257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Gravitational Slingshot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65AF1-21AA-2859-34F4-8C93AFEB6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" y="1027906"/>
            <a:ext cx="4274127" cy="6179127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Momentum Exchange: A spacecraft can gain or lose orbital energy by passing close to a moving planet.</a:t>
            </a:r>
          </a:p>
          <a:p>
            <a:br>
              <a:rPr lang="en-IN" dirty="0"/>
            </a:br>
            <a:r>
              <a:rPr lang="en-IN" dirty="0"/>
              <a:t>No Free Energy: The spacecraft steals a tiny amount of the planet’s orbital momentum. The planet slows by an immeasurable amount.</a:t>
            </a:r>
          </a:p>
          <a:p>
            <a:br>
              <a:rPr lang="en-IN" dirty="0"/>
            </a:br>
            <a:r>
              <a:rPr lang="en-IN" dirty="0"/>
              <a:t>Velocity Boost: In the Sun’s reference frame, the spacecraft exits with greater speed than it entered.</a:t>
            </a:r>
          </a:p>
          <a:p>
            <a:br>
              <a:rPr lang="en-IN" dirty="0"/>
            </a:br>
            <a:r>
              <a:rPr lang="en-IN" dirty="0"/>
              <a:t>Trajectory Bending: The planet’s gravity curves the path like a cosmic billiards cushion.</a:t>
            </a:r>
          </a:p>
          <a:p>
            <a:br>
              <a:rPr lang="en-IN" dirty="0"/>
            </a:br>
            <a:r>
              <a:rPr lang="en-IN" dirty="0"/>
              <a:t>Mission Game-Changer: Enables deep space missions without carrying impossible amounts of fuel.</a:t>
            </a:r>
            <a:endParaRPr lang="en-US" dirty="0"/>
          </a:p>
        </p:txBody>
      </p:sp>
      <p:pic>
        <p:nvPicPr>
          <p:cNvPr id="4098" name="Picture 2" descr="Gravitational Slingshot">
            <a:extLst>
              <a:ext uri="{FF2B5EF4-FFF2-40B4-BE49-F238E27FC236}">
                <a16:creationId xmlns:a16="http://schemas.microsoft.com/office/drawing/2014/main" id="{CCF5F26A-DC32-0053-BB1A-BAF7ACD15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854" y="2095499"/>
            <a:ext cx="7214838" cy="340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0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2265</TotalTime>
  <Words>541</Words>
  <Application>Microsoft Macintosh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Google Sans Text</vt:lpstr>
      <vt:lpstr>Office Theme</vt:lpstr>
      <vt:lpstr>Lecture : 4  Mechanics &amp; Gravitation</vt:lpstr>
      <vt:lpstr>Newton Law’s of Gravitation</vt:lpstr>
      <vt:lpstr>Orbital Mechanics </vt:lpstr>
      <vt:lpstr>PowerPoint Presentation</vt:lpstr>
      <vt:lpstr>Lagrange Points</vt:lpstr>
      <vt:lpstr>Tidal Forces</vt:lpstr>
      <vt:lpstr>Roche Limit</vt:lpstr>
      <vt:lpstr>Gravitational Slingshot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Rachh</dc:creator>
  <cp:lastModifiedBy>Gaurav Rachh</cp:lastModifiedBy>
  <cp:revision>3</cp:revision>
  <dcterms:created xsi:type="dcterms:W3CDTF">2026-03-03T07:20:43Z</dcterms:created>
  <dcterms:modified xsi:type="dcterms:W3CDTF">2026-03-16T05:26:10Z</dcterms:modified>
</cp:coreProperties>
</file>