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59" r:id="rId6"/>
    <p:sldId id="260" r:id="rId7"/>
    <p:sldId id="262" r:id="rId8"/>
    <p:sldId id="264" r:id="rId9"/>
    <p:sldId id="263" r:id="rId10"/>
    <p:sldId id="265" r:id="rId11"/>
    <p:sldId id="266" r:id="rId12"/>
    <p:sldId id="267" r:id="rId13"/>
    <p:sldId id="268" r:id="rId14"/>
    <p:sldId id="269" r:id="rId15"/>
    <p:sldId id="282"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860"/>
  </p:normalViewPr>
  <p:slideViewPr>
    <p:cSldViewPr snapToGrid="0">
      <p:cViewPr varScale="1">
        <p:scale>
          <a:sx n="124" d="100"/>
          <a:sy n="124" d="100"/>
        </p:scale>
        <p:origin x="2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5EF15-4C83-C4B8-AC2A-AC53B2780E4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F7E5DF-6F44-142A-EFFD-2B64E87BC0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82CA062-3854-CDCF-4CEB-4F4073A09380}"/>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5" name="Footer Placeholder 4">
            <a:extLst>
              <a:ext uri="{FF2B5EF4-FFF2-40B4-BE49-F238E27FC236}">
                <a16:creationId xmlns:a16="http://schemas.microsoft.com/office/drawing/2014/main" id="{E6C8F278-3DB7-9998-7C16-A540DFFA7A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8BED9-D15C-264A-5D4A-8E6533DE00F7}"/>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2416601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5AE3-FCD8-6F55-1539-AFDC784AB04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4C14B11-2B34-D633-73AB-EF0F5BA3089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DC674D8-8721-5034-4A55-106699AA65B9}"/>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5" name="Footer Placeholder 4">
            <a:extLst>
              <a:ext uri="{FF2B5EF4-FFF2-40B4-BE49-F238E27FC236}">
                <a16:creationId xmlns:a16="http://schemas.microsoft.com/office/drawing/2014/main" id="{1AD43B26-57D8-6CE5-65CB-3386019ABD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84F0B7-436B-64D2-A61D-97ECCF4037C8}"/>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4072870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23B3A-A183-157E-5A87-C40CD0B38D0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EEDE410-7B65-D7B7-1794-53147603F8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D12CA74-0FB4-E4BE-01CC-512CF0754B80}"/>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5" name="Footer Placeholder 4">
            <a:extLst>
              <a:ext uri="{FF2B5EF4-FFF2-40B4-BE49-F238E27FC236}">
                <a16:creationId xmlns:a16="http://schemas.microsoft.com/office/drawing/2014/main" id="{F6D71B6C-BA70-D21D-D664-0A7810EB0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C5560F-8F6C-518D-A9D5-05499754E3EC}"/>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2763148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69323-942D-2899-03BA-49B24D18560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1FF0CA6-90D8-F123-E2BC-12C35AE342F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AAA11BE-8EB6-3B71-5B1D-9C413F29BDD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6F27DE0-259A-AC59-C5B2-E109CA2743BC}"/>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6" name="Footer Placeholder 5">
            <a:extLst>
              <a:ext uri="{FF2B5EF4-FFF2-40B4-BE49-F238E27FC236}">
                <a16:creationId xmlns:a16="http://schemas.microsoft.com/office/drawing/2014/main" id="{5D813A1D-FCBB-85C9-D968-D635B3810E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1DE6BF-7206-767F-1A44-A86FAD799382}"/>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3742754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CECB-8CDD-EE09-BBCE-4EF16713AE8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6C109BD-CB2C-2354-ED4E-9174785BD4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5FFC234-7C9D-2109-1AEA-E72BD83791F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DB7823B-B1FC-CB19-28A1-32EAFFC4AC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B87B25F-FA0D-3E8B-8841-F731EA06A1D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3982BBE-A204-B7DB-9A4B-65A1FE5E7E86}"/>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8" name="Footer Placeholder 7">
            <a:extLst>
              <a:ext uri="{FF2B5EF4-FFF2-40B4-BE49-F238E27FC236}">
                <a16:creationId xmlns:a16="http://schemas.microsoft.com/office/drawing/2014/main" id="{02165214-C206-1599-0B0F-F4A1239982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D7C2F5-C32F-6E34-4765-5B72DB43CB5D}"/>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177336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3EF4E-7904-7B79-63B4-4A6E7E34BEA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7CB462A-C2E3-3FE4-7052-FF0D2B8F25FD}"/>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4" name="Footer Placeholder 3">
            <a:extLst>
              <a:ext uri="{FF2B5EF4-FFF2-40B4-BE49-F238E27FC236}">
                <a16:creationId xmlns:a16="http://schemas.microsoft.com/office/drawing/2014/main" id="{1CA3F9AE-97E7-A06E-A707-F504B24E4B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FB80CA-3D63-6BDF-212A-32477ED4B7A6}"/>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2542197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0A2BB7-0306-AEB9-739A-FCE3BF0093DA}"/>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3" name="Footer Placeholder 2">
            <a:extLst>
              <a:ext uri="{FF2B5EF4-FFF2-40B4-BE49-F238E27FC236}">
                <a16:creationId xmlns:a16="http://schemas.microsoft.com/office/drawing/2014/main" id="{D6325FD9-AF6F-1BEF-BD0E-749EC2F650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39E446-0107-24A1-FBB5-E433BF8148C6}"/>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3732886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1FD8-6B23-796D-702E-0BDC075A654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C23D99-8F8A-F938-7193-F3BAE1C129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104FFCF-F127-999D-58FC-A4CE178AF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86D4CF1-BB20-019F-C2C6-5F93D73DDBE8}"/>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6" name="Footer Placeholder 5">
            <a:extLst>
              <a:ext uri="{FF2B5EF4-FFF2-40B4-BE49-F238E27FC236}">
                <a16:creationId xmlns:a16="http://schemas.microsoft.com/office/drawing/2014/main" id="{D385F1A6-2591-02AD-7A49-D3CDEE78A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A7E03F-1969-4E05-1381-5A40D120694F}"/>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1689460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546F4-A471-FB17-FC26-DDCE96E1942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1929613-ED12-21F5-CB94-F76EA96A3F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DACC31-DDFC-02CA-FCC3-5577F6210F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3887A66-A02E-4C54-FD9F-58698A0126F7}"/>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6" name="Footer Placeholder 5">
            <a:extLst>
              <a:ext uri="{FF2B5EF4-FFF2-40B4-BE49-F238E27FC236}">
                <a16:creationId xmlns:a16="http://schemas.microsoft.com/office/drawing/2014/main" id="{0B7B44BC-A3E3-2BE8-9586-EA0DD8D116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166ED1-1CBE-D784-F94C-0A313870BB07}"/>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422867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2D576-3F5E-8E9E-D926-133B6F71AE2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CACDBE9-569F-24D9-00BF-701D23BA706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31C7536-F30B-A36A-D01A-1803B2F58DC3}"/>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5" name="Footer Placeholder 4">
            <a:extLst>
              <a:ext uri="{FF2B5EF4-FFF2-40B4-BE49-F238E27FC236}">
                <a16:creationId xmlns:a16="http://schemas.microsoft.com/office/drawing/2014/main" id="{EED01600-8E04-1402-EBEC-A6C1B740D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E9743B-1EED-03E2-87EB-CBAD3DB21A76}"/>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4154086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921F20-5558-3C44-F96E-BBD3B2898F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8CA7088-2E5E-7EF6-C301-4B88FB86314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BC75C82-451E-118B-D842-11E7821F934D}"/>
              </a:ext>
            </a:extLst>
          </p:cNvPr>
          <p:cNvSpPr>
            <a:spLocks noGrp="1"/>
          </p:cNvSpPr>
          <p:nvPr>
            <p:ph type="dt" sz="half" idx="10"/>
          </p:nvPr>
        </p:nvSpPr>
        <p:spPr/>
        <p:txBody>
          <a:bodyPr/>
          <a:lstStyle/>
          <a:p>
            <a:fld id="{700510C2-A47D-7A4B-A688-B26D0A4AF4AD}" type="datetimeFigureOut">
              <a:rPr lang="en-US" smtClean="0"/>
              <a:t>3/4/26</a:t>
            </a:fld>
            <a:endParaRPr lang="en-US"/>
          </a:p>
        </p:txBody>
      </p:sp>
      <p:sp>
        <p:nvSpPr>
          <p:cNvPr id="5" name="Footer Placeholder 4">
            <a:extLst>
              <a:ext uri="{FF2B5EF4-FFF2-40B4-BE49-F238E27FC236}">
                <a16:creationId xmlns:a16="http://schemas.microsoft.com/office/drawing/2014/main" id="{B9504B44-4779-7CF7-288D-ED43C1EBE1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E963AE-B548-D1F6-E5F6-7941FB97125B}"/>
              </a:ext>
            </a:extLst>
          </p:cNvPr>
          <p:cNvSpPr>
            <a:spLocks noGrp="1"/>
          </p:cNvSpPr>
          <p:nvPr>
            <p:ph type="sldNum" sz="quarter" idx="12"/>
          </p:nvPr>
        </p:nvSpPr>
        <p:spPr/>
        <p:txBody>
          <a:bodyPr/>
          <a:lstStyle/>
          <a:p>
            <a:fld id="{7B84AA7D-DC19-2247-960A-DCFB5099C5FB}" type="slidenum">
              <a:rPr lang="en-US" smtClean="0"/>
              <a:t>‹#›</a:t>
            </a:fld>
            <a:endParaRPr lang="en-US"/>
          </a:p>
        </p:txBody>
      </p:sp>
    </p:spTree>
    <p:extLst>
      <p:ext uri="{BB962C8B-B14F-4D97-AF65-F5344CB8AC3E}">
        <p14:creationId xmlns:p14="http://schemas.microsoft.com/office/powerpoint/2010/main" val="944480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B6CF91-5533-EFD2-A51B-C3EF4BAAA6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09277B8-03DA-6267-4526-6ADB1E6E63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C6422D-5536-DB73-CB50-41EDF3638B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0510C2-A47D-7A4B-A688-B26D0A4AF4AD}" type="datetimeFigureOut">
              <a:rPr lang="en-US" smtClean="0"/>
              <a:t>3/4/26</a:t>
            </a:fld>
            <a:endParaRPr lang="en-US"/>
          </a:p>
        </p:txBody>
      </p:sp>
      <p:sp>
        <p:nvSpPr>
          <p:cNvPr id="5" name="Footer Placeholder 4">
            <a:extLst>
              <a:ext uri="{FF2B5EF4-FFF2-40B4-BE49-F238E27FC236}">
                <a16:creationId xmlns:a16="http://schemas.microsoft.com/office/drawing/2014/main" id="{28739530-BC61-EAF8-6719-0F20FB088C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4E1E7B-8F9A-280F-4C6B-3C775ADFA3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84AA7D-DC19-2247-960A-DCFB5099C5FB}" type="slidenum">
              <a:rPr lang="en-US" smtClean="0"/>
              <a:t>‹#›</a:t>
            </a:fld>
            <a:endParaRPr lang="en-US"/>
          </a:p>
        </p:txBody>
      </p:sp>
    </p:spTree>
    <p:extLst>
      <p:ext uri="{BB962C8B-B14F-4D97-AF65-F5344CB8AC3E}">
        <p14:creationId xmlns:p14="http://schemas.microsoft.com/office/powerpoint/2010/main" val="470239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daviddarling.info/encyclopedia/C/cosmic_distance_ladder.html"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E3631-3B79-75BB-4100-C3FFBFCF3A40}"/>
              </a:ext>
            </a:extLst>
          </p:cNvPr>
          <p:cNvSpPr>
            <a:spLocks noGrp="1"/>
          </p:cNvSpPr>
          <p:nvPr>
            <p:ph type="ctrTitle"/>
          </p:nvPr>
        </p:nvSpPr>
        <p:spPr>
          <a:xfrm>
            <a:off x="1801091" y="1924591"/>
            <a:ext cx="8589818" cy="3008818"/>
          </a:xfrm>
        </p:spPr>
        <p:txBody>
          <a:bodyPr>
            <a:normAutofit fontScale="90000"/>
          </a:bodyPr>
          <a:lstStyle/>
          <a:p>
            <a:br>
              <a:rPr lang="en-US" dirty="0"/>
            </a:br>
            <a:r>
              <a:rPr lang="en-US" dirty="0"/>
              <a:t>Lecture : 1</a:t>
            </a:r>
            <a:br>
              <a:rPr lang="en-US" dirty="0"/>
            </a:br>
            <a:br>
              <a:rPr lang="en-US" dirty="0"/>
            </a:br>
            <a:r>
              <a:rPr lang="en-US" dirty="0"/>
              <a:t>Basics of Astronomy and Astrophysics </a:t>
            </a:r>
          </a:p>
        </p:txBody>
      </p:sp>
    </p:spTree>
    <p:extLst>
      <p:ext uri="{BB962C8B-B14F-4D97-AF65-F5344CB8AC3E}">
        <p14:creationId xmlns:p14="http://schemas.microsoft.com/office/powerpoint/2010/main" val="66287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B951F-E0E6-ED58-7928-B1048ABF03D0}"/>
              </a:ext>
            </a:extLst>
          </p:cNvPr>
          <p:cNvSpPr>
            <a:spLocks noGrp="1"/>
          </p:cNvSpPr>
          <p:nvPr>
            <p:ph type="title"/>
          </p:nvPr>
        </p:nvSpPr>
        <p:spPr/>
        <p:txBody>
          <a:bodyPr/>
          <a:lstStyle/>
          <a:p>
            <a:r>
              <a:rPr lang="en-US" dirty="0"/>
              <a:t>Cosmic Distance Ladder </a:t>
            </a:r>
          </a:p>
        </p:txBody>
      </p:sp>
      <p:pic>
        <p:nvPicPr>
          <p:cNvPr id="1026" name="Picture 2" descr="cosmic distance ladder">
            <a:extLst>
              <a:ext uri="{FF2B5EF4-FFF2-40B4-BE49-F238E27FC236}">
                <a16:creationId xmlns:a16="http://schemas.microsoft.com/office/drawing/2014/main" id="{ACE6C4B6-746C-F774-6222-F6C98B3496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7175"/>
            <a:ext cx="8890000" cy="4965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8476EC-B8E3-EB03-D33C-122A4C8E950C}"/>
              </a:ext>
            </a:extLst>
          </p:cNvPr>
          <p:cNvSpPr txBox="1"/>
          <p:nvPr/>
        </p:nvSpPr>
        <p:spPr>
          <a:xfrm>
            <a:off x="9299222" y="6492875"/>
            <a:ext cx="1241778" cy="215444"/>
          </a:xfrm>
          <a:prstGeom prst="rect">
            <a:avLst/>
          </a:prstGeom>
          <a:noFill/>
        </p:spPr>
        <p:txBody>
          <a:bodyPr wrap="square" rtlCol="0">
            <a:spAutoFit/>
          </a:bodyPr>
          <a:lstStyle/>
          <a:p>
            <a:r>
              <a:rPr lang="en-US" sz="800" dirty="0">
                <a:hlinkClick r:id="rId3"/>
              </a:rPr>
              <a:t>cosmic distance ladder </a:t>
            </a:r>
            <a:endParaRPr lang="en-US" sz="800" dirty="0"/>
          </a:p>
        </p:txBody>
      </p:sp>
    </p:spTree>
    <p:extLst>
      <p:ext uri="{BB962C8B-B14F-4D97-AF65-F5344CB8AC3E}">
        <p14:creationId xmlns:p14="http://schemas.microsoft.com/office/powerpoint/2010/main" val="366645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2748-538F-6B6B-D22E-C618371D8066}"/>
              </a:ext>
            </a:extLst>
          </p:cNvPr>
          <p:cNvSpPr>
            <a:spLocks noGrp="1"/>
          </p:cNvSpPr>
          <p:nvPr>
            <p:ph type="title"/>
          </p:nvPr>
        </p:nvSpPr>
        <p:spPr>
          <a:xfrm>
            <a:off x="1118304" y="322616"/>
            <a:ext cx="9955389" cy="1901294"/>
          </a:xfrm>
        </p:spPr>
        <p:txBody>
          <a:bodyPr>
            <a:normAutofit fontScale="90000"/>
          </a:bodyPr>
          <a:lstStyle/>
          <a:p>
            <a:pPr algn="ctr"/>
            <a:r>
              <a:rPr lang="en-US" dirty="0"/>
              <a:t>Let’s start with the very place we call HOME!!</a:t>
            </a:r>
            <a:br>
              <a:rPr lang="en-US" dirty="0"/>
            </a:br>
            <a:br>
              <a:rPr lang="en-US" dirty="0"/>
            </a:br>
            <a:r>
              <a:rPr lang="en-US" dirty="0"/>
              <a:t>The EARTH</a:t>
            </a:r>
          </a:p>
        </p:txBody>
      </p:sp>
      <p:sp>
        <p:nvSpPr>
          <p:cNvPr id="3" name="Content Placeholder 2">
            <a:extLst>
              <a:ext uri="{FF2B5EF4-FFF2-40B4-BE49-F238E27FC236}">
                <a16:creationId xmlns:a16="http://schemas.microsoft.com/office/drawing/2014/main" id="{902983D7-8BE5-C390-F42B-1DCB973AE4D4}"/>
              </a:ext>
            </a:extLst>
          </p:cNvPr>
          <p:cNvSpPr>
            <a:spLocks noGrp="1"/>
          </p:cNvSpPr>
          <p:nvPr>
            <p:ph idx="1"/>
          </p:nvPr>
        </p:nvSpPr>
        <p:spPr>
          <a:xfrm>
            <a:off x="3305526" y="3429000"/>
            <a:ext cx="5580943" cy="1038577"/>
          </a:xfrm>
        </p:spPr>
        <p:txBody>
          <a:bodyPr>
            <a:normAutofit/>
          </a:bodyPr>
          <a:lstStyle/>
          <a:p>
            <a:r>
              <a:rPr lang="en-US" dirty="0"/>
              <a:t>What is a longitude and a latitude </a:t>
            </a:r>
          </a:p>
          <a:p>
            <a:r>
              <a:rPr lang="en-US" dirty="0"/>
              <a:t>What is the radius of Earth?</a:t>
            </a:r>
          </a:p>
          <a:p>
            <a:pPr marL="0" indent="0">
              <a:buNone/>
            </a:pPr>
            <a:endParaRPr lang="en-US" dirty="0"/>
          </a:p>
        </p:txBody>
      </p:sp>
    </p:spTree>
    <p:extLst>
      <p:ext uri="{BB962C8B-B14F-4D97-AF65-F5344CB8AC3E}">
        <p14:creationId xmlns:p14="http://schemas.microsoft.com/office/powerpoint/2010/main" val="2088942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16FF-4DDF-8E52-0BF5-41DAD8B3D6A5}"/>
              </a:ext>
            </a:extLst>
          </p:cNvPr>
          <p:cNvSpPr>
            <a:spLocks noGrp="1"/>
          </p:cNvSpPr>
          <p:nvPr>
            <p:ph type="title"/>
          </p:nvPr>
        </p:nvSpPr>
        <p:spPr/>
        <p:txBody>
          <a:bodyPr/>
          <a:lstStyle/>
          <a:p>
            <a:r>
              <a:rPr lang="en-IN" dirty="0"/>
              <a:t>The Earthly Grid: Latitude &amp; Longitude</a:t>
            </a:r>
            <a:endParaRPr lang="en-US" dirty="0"/>
          </a:p>
        </p:txBody>
      </p:sp>
      <p:sp>
        <p:nvSpPr>
          <p:cNvPr id="3" name="Content Placeholder 2">
            <a:extLst>
              <a:ext uri="{FF2B5EF4-FFF2-40B4-BE49-F238E27FC236}">
                <a16:creationId xmlns:a16="http://schemas.microsoft.com/office/drawing/2014/main" id="{B2A1F870-BF93-DE79-AAF3-27C34CC03A3E}"/>
              </a:ext>
            </a:extLst>
          </p:cNvPr>
          <p:cNvSpPr>
            <a:spLocks noGrp="1"/>
          </p:cNvSpPr>
          <p:nvPr>
            <p:ph idx="1"/>
          </p:nvPr>
        </p:nvSpPr>
        <p:spPr>
          <a:xfrm>
            <a:off x="578555" y="2028825"/>
            <a:ext cx="5257800" cy="4351338"/>
          </a:xfrm>
        </p:spPr>
        <p:txBody>
          <a:bodyPr>
            <a:normAutofit fontScale="62500" lnSpcReduction="20000"/>
          </a:bodyPr>
          <a:lstStyle/>
          <a:p>
            <a:pPr marL="0" indent="0">
              <a:buNone/>
            </a:pPr>
            <a:r>
              <a:rPr lang="en-IN" b="1" dirty="0"/>
              <a:t>Latitude (The Rungs):</a:t>
            </a:r>
            <a:r>
              <a:rPr lang="en-IN" dirty="0"/>
              <a:t> Measures North and South.</a:t>
            </a:r>
          </a:p>
          <a:p>
            <a:pPr>
              <a:buFont typeface="Arial" panose="020B0604020202020204" pitchFamily="34" charset="0"/>
              <a:buChar char="•"/>
            </a:pPr>
            <a:r>
              <a:rPr lang="en-IN" dirty="0"/>
              <a:t>The </a:t>
            </a:r>
            <a:r>
              <a:rPr lang="en-IN" b="1" dirty="0"/>
              <a:t>Equator</a:t>
            </a:r>
            <a:r>
              <a:rPr lang="en-IN" dirty="0"/>
              <a:t> is 0°, acting as the natural midpoint.</a:t>
            </a:r>
          </a:p>
          <a:p>
            <a:pPr>
              <a:buFont typeface="Arial" panose="020B0604020202020204" pitchFamily="34" charset="0"/>
              <a:buChar char="•"/>
            </a:pPr>
            <a:r>
              <a:rPr lang="en-IN" dirty="0"/>
              <a:t>The Poles are exactly 90° North and South.</a:t>
            </a:r>
          </a:p>
          <a:p>
            <a:pPr>
              <a:buFont typeface="Arial" panose="020B0604020202020204" pitchFamily="34" charset="0"/>
              <a:buChar char="•"/>
            </a:pPr>
            <a:r>
              <a:rPr lang="en-IN" i="1" dirty="0"/>
              <a:t>Trick to remember:</a:t>
            </a:r>
            <a:r>
              <a:rPr lang="en-IN" dirty="0"/>
              <a:t> Lines of latitude are parallel (like a ladder).</a:t>
            </a:r>
          </a:p>
          <a:p>
            <a:pPr marL="0" indent="0">
              <a:buNone/>
            </a:pPr>
            <a:endParaRPr lang="en-IN" dirty="0"/>
          </a:p>
          <a:p>
            <a:pPr marL="0" indent="0">
              <a:buNone/>
            </a:pPr>
            <a:endParaRPr lang="en-IN" dirty="0"/>
          </a:p>
          <a:p>
            <a:pPr marL="0" indent="0">
              <a:buNone/>
            </a:pPr>
            <a:r>
              <a:rPr lang="en-IN" b="1" dirty="0"/>
              <a:t>Longitude (The Slices):</a:t>
            </a:r>
            <a:r>
              <a:rPr lang="en-IN" dirty="0"/>
              <a:t> Measures East and West.</a:t>
            </a:r>
          </a:p>
          <a:p>
            <a:pPr>
              <a:buFont typeface="Arial" panose="020B0604020202020204" pitchFamily="34" charset="0"/>
              <a:buChar char="•"/>
            </a:pPr>
            <a:r>
              <a:rPr lang="en-IN" dirty="0"/>
              <a:t>The </a:t>
            </a:r>
            <a:r>
              <a:rPr lang="en-IN" b="1" dirty="0"/>
              <a:t>Prime Meridian</a:t>
            </a:r>
            <a:r>
              <a:rPr lang="en-IN" dirty="0"/>
              <a:t> (Greenwich, UK) is 0°. This is an arbitrary, human-made starting line.</a:t>
            </a:r>
          </a:p>
          <a:p>
            <a:pPr>
              <a:buFont typeface="Arial" panose="020B0604020202020204" pitchFamily="34" charset="0"/>
              <a:buChar char="•"/>
            </a:pPr>
            <a:r>
              <a:rPr lang="en-IN" dirty="0"/>
              <a:t>Lines meet at the poles, dividing the Earth into 360 vertical slices.</a:t>
            </a:r>
          </a:p>
          <a:p>
            <a:pPr>
              <a:buFont typeface="Arial" panose="020B0604020202020204" pitchFamily="34" charset="0"/>
              <a:buChar char="•"/>
            </a:pPr>
            <a:endParaRPr lang="en-IN" dirty="0"/>
          </a:p>
        </p:txBody>
      </p:sp>
      <p:pic>
        <p:nvPicPr>
          <p:cNvPr id="4098" name="Picture 2" descr="GSP 270: Latitude and Longitude">
            <a:extLst>
              <a:ext uri="{FF2B5EF4-FFF2-40B4-BE49-F238E27FC236}">
                <a16:creationId xmlns:a16="http://schemas.microsoft.com/office/drawing/2014/main" id="{D042C6BA-2F10-0476-B7F5-E714A10146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2394" y="1690688"/>
            <a:ext cx="4951406" cy="4468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4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F22B3-2C96-F657-2C32-DBECE6320F75}"/>
              </a:ext>
            </a:extLst>
          </p:cNvPr>
          <p:cNvSpPr>
            <a:spLocks noGrp="1"/>
          </p:cNvSpPr>
          <p:nvPr>
            <p:ph type="title"/>
          </p:nvPr>
        </p:nvSpPr>
        <p:spPr>
          <a:xfrm>
            <a:off x="758280" y="2297802"/>
            <a:ext cx="10675440" cy="2262395"/>
          </a:xfrm>
        </p:spPr>
        <p:txBody>
          <a:bodyPr>
            <a:normAutofit/>
          </a:bodyPr>
          <a:lstStyle/>
          <a:p>
            <a:pPr algn="ctr"/>
            <a:r>
              <a:rPr lang="en-US" dirty="0"/>
              <a:t>Story Time!! </a:t>
            </a:r>
            <a:br>
              <a:rPr lang="en-US" dirty="0"/>
            </a:br>
            <a:br>
              <a:rPr lang="en-US" dirty="0"/>
            </a:br>
            <a:r>
              <a:rPr lang="en-US" dirty="0"/>
              <a:t>About how humans found the radius of Earth </a:t>
            </a:r>
          </a:p>
        </p:txBody>
      </p:sp>
    </p:spTree>
    <p:extLst>
      <p:ext uri="{BB962C8B-B14F-4D97-AF65-F5344CB8AC3E}">
        <p14:creationId xmlns:p14="http://schemas.microsoft.com/office/powerpoint/2010/main" val="1403777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E263B2-0EC6-8758-4388-261C76B15C75}"/>
              </a:ext>
            </a:extLst>
          </p:cNvPr>
          <p:cNvSpPr>
            <a:spLocks noGrp="1"/>
          </p:cNvSpPr>
          <p:nvPr>
            <p:ph type="title"/>
          </p:nvPr>
        </p:nvSpPr>
        <p:spPr>
          <a:xfrm>
            <a:off x="836680" y="261054"/>
            <a:ext cx="6002109" cy="1127480"/>
          </a:xfrm>
        </p:spPr>
        <p:txBody>
          <a:bodyPr>
            <a:normAutofit fontScale="90000"/>
          </a:bodyPr>
          <a:lstStyle/>
          <a:p>
            <a:r>
              <a:rPr lang="en-US" sz="4000" dirty="0"/>
              <a:t>From Aesthetics to Evidence</a:t>
            </a:r>
          </a:p>
        </p:txBody>
      </p:sp>
      <p:sp>
        <p:nvSpPr>
          <p:cNvPr id="3" name="Content Placeholder 2">
            <a:extLst>
              <a:ext uri="{FF2B5EF4-FFF2-40B4-BE49-F238E27FC236}">
                <a16:creationId xmlns:a16="http://schemas.microsoft.com/office/drawing/2014/main" id="{5ACA26F9-987A-F4F7-0D13-3C8B6673ACD9}"/>
              </a:ext>
            </a:extLst>
          </p:cNvPr>
          <p:cNvSpPr>
            <a:spLocks noGrp="1"/>
          </p:cNvSpPr>
          <p:nvPr>
            <p:ph idx="1"/>
          </p:nvPr>
        </p:nvSpPr>
        <p:spPr>
          <a:xfrm>
            <a:off x="823601" y="1388534"/>
            <a:ext cx="6002110" cy="2260600"/>
          </a:xfrm>
        </p:spPr>
        <p:txBody>
          <a:bodyPr>
            <a:normAutofit/>
          </a:bodyPr>
          <a:lstStyle/>
          <a:p>
            <a:r>
              <a:rPr lang="en-US" sz="2000" dirty="0"/>
              <a:t>Ships disappear hull-first over the horizon.</a:t>
            </a:r>
          </a:p>
          <a:p>
            <a:pPr marL="0" indent="0">
              <a:buNone/>
            </a:pPr>
            <a:endParaRPr lang="en-US" sz="2000" dirty="0"/>
          </a:p>
          <a:p>
            <a:r>
              <a:rPr lang="en-US" sz="2000" dirty="0"/>
              <a:t>Earth casts a round shadow during a lunar eclipse.</a:t>
            </a:r>
          </a:p>
          <a:p>
            <a:pPr marL="0" indent="0">
              <a:buNone/>
            </a:pPr>
            <a:endParaRPr lang="en-US" sz="2000" dirty="0"/>
          </a:p>
          <a:p>
            <a:r>
              <a:rPr lang="en-US" sz="2000" dirty="0"/>
              <a:t>Different constellations are visible at different latitudes.</a:t>
            </a:r>
          </a:p>
          <a:p>
            <a:endParaRPr lang="en-US" sz="2000" dirty="0"/>
          </a:p>
        </p:txBody>
      </p:sp>
      <p:pic>
        <p:nvPicPr>
          <p:cNvPr id="3074" name="Picture 2" descr="Aristotle, Ancient Greek philosopher ...">
            <a:extLst>
              <a:ext uri="{FF2B5EF4-FFF2-40B4-BE49-F238E27FC236}">
                <a16:creationId xmlns:a16="http://schemas.microsoft.com/office/drawing/2014/main" id="{6F83D67F-B0AE-4B75-4BC3-0FA9091F4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4508"/>
          <a:stretch>
            <a:fillRect/>
          </a:stretch>
        </p:blipFill>
        <p:spPr bwMode="auto">
          <a:xfrm>
            <a:off x="8218311" y="261054"/>
            <a:ext cx="3014133" cy="4140340"/>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E38A411-0063-6675-A913-0B0E9C0115B5}"/>
              </a:ext>
            </a:extLst>
          </p:cNvPr>
          <p:cNvSpPr txBox="1"/>
          <p:nvPr/>
        </p:nvSpPr>
        <p:spPr>
          <a:xfrm>
            <a:off x="8218311" y="4820356"/>
            <a:ext cx="3014133" cy="1200329"/>
          </a:xfrm>
          <a:prstGeom prst="rect">
            <a:avLst/>
          </a:prstGeom>
          <a:noFill/>
        </p:spPr>
        <p:txBody>
          <a:bodyPr wrap="square" rtlCol="0">
            <a:spAutoFit/>
          </a:bodyPr>
          <a:lstStyle/>
          <a:p>
            <a:r>
              <a:rPr lang="en-IN" dirty="0"/>
              <a:t>Pythagoras first proposed a round Earth simply because spheres were "aesthetically perfect."</a:t>
            </a:r>
            <a:endParaRPr lang="en-US" dirty="0"/>
          </a:p>
        </p:txBody>
      </p:sp>
      <p:pic>
        <p:nvPicPr>
          <p:cNvPr id="5" name="Picture 4" descr="Halfway into the Earth's shadow.:September 28, 2007 at ~2:20 a.m ~  --Richard Berry : r/Astronomy">
            <a:extLst>
              <a:ext uri="{FF2B5EF4-FFF2-40B4-BE49-F238E27FC236}">
                <a16:creationId xmlns:a16="http://schemas.microsoft.com/office/drawing/2014/main" id="{BFAABCE5-4AD4-7845-47C3-518D50C4D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601" y="4463344"/>
            <a:ext cx="3014133" cy="226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125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9C24-7E29-9AB3-CBA3-B76B3FE90801}"/>
              </a:ext>
            </a:extLst>
          </p:cNvPr>
          <p:cNvSpPr>
            <a:spLocks noGrp="1"/>
          </p:cNvSpPr>
          <p:nvPr>
            <p:ph type="title"/>
          </p:nvPr>
        </p:nvSpPr>
        <p:spPr/>
        <p:txBody>
          <a:bodyPr/>
          <a:lstStyle/>
          <a:p>
            <a:pPr algn="ctr"/>
            <a:r>
              <a:rPr lang="en-IN" dirty="0"/>
              <a:t>Eratosthenes of Cyrene (240 B.C.)</a:t>
            </a:r>
            <a:endParaRPr lang="en-US" dirty="0"/>
          </a:p>
        </p:txBody>
      </p:sp>
      <p:sp>
        <p:nvSpPr>
          <p:cNvPr id="3" name="Content Placeholder 2">
            <a:extLst>
              <a:ext uri="{FF2B5EF4-FFF2-40B4-BE49-F238E27FC236}">
                <a16:creationId xmlns:a16="http://schemas.microsoft.com/office/drawing/2014/main" id="{A6A875A9-AF14-656D-A5EA-0C3A79C80B72}"/>
              </a:ext>
            </a:extLst>
          </p:cNvPr>
          <p:cNvSpPr>
            <a:spLocks noGrp="1"/>
          </p:cNvSpPr>
          <p:nvPr>
            <p:ph idx="1"/>
          </p:nvPr>
        </p:nvSpPr>
        <p:spPr>
          <a:xfrm>
            <a:off x="654755" y="2054578"/>
            <a:ext cx="11266311" cy="4280430"/>
          </a:xfrm>
        </p:spPr>
        <p:txBody>
          <a:bodyPr>
            <a:normAutofit/>
          </a:bodyPr>
          <a:lstStyle/>
          <a:p>
            <a:pPr marL="0" indent="0">
              <a:buNone/>
            </a:pPr>
            <a:r>
              <a:rPr lang="en-IN" dirty="0"/>
              <a:t>Chief Librarian of Alexandria, a master of geography.</a:t>
            </a:r>
          </a:p>
          <a:p>
            <a:pPr marL="0" indent="0">
              <a:buNone/>
            </a:pPr>
            <a:endParaRPr lang="en-IN" dirty="0"/>
          </a:p>
          <a:p>
            <a:pPr marL="0" indent="0">
              <a:buNone/>
            </a:pPr>
            <a:r>
              <a:rPr lang="en-IN" dirty="0"/>
              <a:t>Travelers reported a strange phenomenon in the southern city of </a:t>
            </a:r>
            <a:r>
              <a:rPr lang="en-IN" dirty="0" err="1"/>
              <a:t>Syene</a:t>
            </a:r>
            <a:r>
              <a:rPr lang="en-IN" dirty="0"/>
              <a:t> (modern-day Aswan).</a:t>
            </a:r>
          </a:p>
          <a:p>
            <a:endParaRPr lang="en-IN" dirty="0"/>
          </a:p>
          <a:p>
            <a:pPr marL="0" indent="0">
              <a:buNone/>
            </a:pPr>
            <a:r>
              <a:rPr lang="en-IN" dirty="0"/>
              <a:t>At exactly noon on the Summer Solstice, the sun illuminated the very bottom of a deep well. A vertical stick cast </a:t>
            </a:r>
            <a:r>
              <a:rPr lang="en-IN" b="1" dirty="0"/>
              <a:t>zero shadow</a:t>
            </a:r>
            <a:r>
              <a:rPr lang="en-IN" dirty="0"/>
              <a:t>. The sun was perfectly overhead.</a:t>
            </a:r>
          </a:p>
          <a:p>
            <a:endParaRPr lang="en-US" dirty="0"/>
          </a:p>
        </p:txBody>
      </p:sp>
    </p:spTree>
    <p:extLst>
      <p:ext uri="{BB962C8B-B14F-4D97-AF65-F5344CB8AC3E}">
        <p14:creationId xmlns:p14="http://schemas.microsoft.com/office/powerpoint/2010/main" val="3640131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B4244-30DE-0418-AEB1-0A802E25A7DD}"/>
              </a:ext>
            </a:extLst>
          </p:cNvPr>
          <p:cNvSpPr>
            <a:spLocks noGrp="1"/>
          </p:cNvSpPr>
          <p:nvPr>
            <p:ph type="title"/>
          </p:nvPr>
        </p:nvSpPr>
        <p:spPr/>
        <p:txBody>
          <a:bodyPr/>
          <a:lstStyle/>
          <a:p>
            <a:pPr algn="ctr"/>
            <a:r>
              <a:rPr lang="en-IN" dirty="0"/>
              <a:t>The Experiment</a:t>
            </a:r>
            <a:endParaRPr lang="en-US" dirty="0"/>
          </a:p>
        </p:txBody>
      </p:sp>
      <p:pic>
        <p:nvPicPr>
          <p:cNvPr id="4" name="Picture 2" descr="Eratosthenes | Biography, Discoveries, Sieve, &amp; Facts | Britannica">
            <a:extLst>
              <a:ext uri="{FF2B5EF4-FFF2-40B4-BE49-F238E27FC236}">
                <a16:creationId xmlns:a16="http://schemas.microsoft.com/office/drawing/2014/main" id="{95D18D66-E3AD-6BFA-3FEC-A65189F15A9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63905" y="2082447"/>
            <a:ext cx="5660277"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3341CF-BDD6-38FE-8220-0CE49597F537}"/>
              </a:ext>
            </a:extLst>
          </p:cNvPr>
          <p:cNvSpPr txBox="1"/>
          <p:nvPr/>
        </p:nvSpPr>
        <p:spPr>
          <a:xfrm>
            <a:off x="237067" y="1672793"/>
            <a:ext cx="5283200" cy="5170646"/>
          </a:xfrm>
          <a:prstGeom prst="rect">
            <a:avLst/>
          </a:prstGeom>
          <a:noFill/>
        </p:spPr>
        <p:txBody>
          <a:bodyPr wrap="square" rtlCol="0">
            <a:spAutoFit/>
          </a:bodyPr>
          <a:lstStyle/>
          <a:p>
            <a:r>
              <a:rPr lang="en-IN" sz="2400" dirty="0"/>
              <a:t>The sun is so far away that its incoming rays are essentially parallel.</a:t>
            </a:r>
          </a:p>
          <a:p>
            <a:endParaRPr lang="en-IN" sz="2400" dirty="0"/>
          </a:p>
          <a:p>
            <a:r>
              <a:rPr lang="en-IN" sz="2400" dirty="0"/>
              <a:t>Eratosthenes placed a vertical stick in Alexandria on the exact same day and time.</a:t>
            </a:r>
          </a:p>
          <a:p>
            <a:endParaRPr lang="en-IN" sz="2400" dirty="0"/>
          </a:p>
          <a:p>
            <a:r>
              <a:rPr lang="en-IN" sz="2400" dirty="0"/>
              <a:t>The stick in Alexandria </a:t>
            </a:r>
            <a:r>
              <a:rPr lang="en-IN" sz="2400" i="1" dirty="0"/>
              <a:t>did</a:t>
            </a:r>
            <a:r>
              <a:rPr lang="en-IN" sz="2400" dirty="0"/>
              <a:t> cast a shadow.</a:t>
            </a:r>
          </a:p>
          <a:p>
            <a:endParaRPr lang="en-IN" sz="2400" dirty="0"/>
          </a:p>
          <a:p>
            <a:r>
              <a:rPr lang="en-IN" sz="2400" dirty="0"/>
              <a:t>The shadow formed an angle of </a:t>
            </a:r>
            <a:r>
              <a:rPr lang="en-IN" sz="2400" b="1" dirty="0"/>
              <a:t>7.2 degree</a:t>
            </a:r>
          </a:p>
          <a:p>
            <a:r>
              <a:rPr lang="en-IN" sz="2400" dirty="0"/>
              <a:t>exactly </a:t>
            </a:r>
            <a:r>
              <a:rPr lang="en-IN" sz="2400" b="1" dirty="0"/>
              <a:t>1/50th</a:t>
            </a:r>
            <a:r>
              <a:rPr lang="en-IN" sz="2400" dirty="0"/>
              <a:t> of a 360-degree circle</a:t>
            </a:r>
          </a:p>
          <a:p>
            <a:endParaRPr lang="en-US" dirty="0"/>
          </a:p>
        </p:txBody>
      </p:sp>
    </p:spTree>
    <p:extLst>
      <p:ext uri="{BB962C8B-B14F-4D97-AF65-F5344CB8AC3E}">
        <p14:creationId xmlns:p14="http://schemas.microsoft.com/office/powerpoint/2010/main" val="512335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0E6F8-5A64-C50D-4A67-CD28FDC4EC3C}"/>
              </a:ext>
            </a:extLst>
          </p:cNvPr>
          <p:cNvSpPr>
            <a:spLocks noGrp="1"/>
          </p:cNvSpPr>
          <p:nvPr>
            <p:ph type="title"/>
          </p:nvPr>
        </p:nvSpPr>
        <p:spPr/>
        <p:txBody>
          <a:bodyPr/>
          <a:lstStyle/>
          <a:p>
            <a:pPr algn="ctr"/>
            <a:r>
              <a:rPr lang="en-IN" dirty="0"/>
              <a:t>The Execution – Walking the Distance</a:t>
            </a:r>
            <a:endParaRPr lang="en-US" dirty="0"/>
          </a:p>
        </p:txBody>
      </p:sp>
      <p:sp>
        <p:nvSpPr>
          <p:cNvPr id="3" name="Content Placeholder 2">
            <a:extLst>
              <a:ext uri="{FF2B5EF4-FFF2-40B4-BE49-F238E27FC236}">
                <a16:creationId xmlns:a16="http://schemas.microsoft.com/office/drawing/2014/main" id="{C609C387-FE1C-A201-7618-DEECD6C2B7B8}"/>
              </a:ext>
            </a:extLst>
          </p:cNvPr>
          <p:cNvSpPr>
            <a:spLocks noGrp="1"/>
          </p:cNvSpPr>
          <p:nvPr>
            <p:ph idx="1"/>
          </p:nvPr>
        </p:nvSpPr>
        <p:spPr>
          <a:xfrm>
            <a:off x="270934" y="2065867"/>
            <a:ext cx="11740444" cy="4212696"/>
          </a:xfrm>
        </p:spPr>
        <p:txBody>
          <a:bodyPr/>
          <a:lstStyle/>
          <a:p>
            <a:pPr marL="0" indent="0">
              <a:buNone/>
            </a:pPr>
            <a:r>
              <a:rPr lang="en-IN" dirty="0"/>
              <a:t>To solve the equation, he just needed the exact distance between Alexandria and </a:t>
            </a:r>
            <a:r>
              <a:rPr lang="en-IN" dirty="0" err="1"/>
              <a:t>Syene</a:t>
            </a:r>
            <a:r>
              <a:rPr lang="en-IN" dirty="0"/>
              <a:t>.</a:t>
            </a:r>
          </a:p>
          <a:p>
            <a:pPr marL="0" indent="0">
              <a:buNone/>
            </a:pPr>
            <a:endParaRPr lang="en-IN" dirty="0"/>
          </a:p>
          <a:p>
            <a:pPr marL="0" indent="0">
              <a:buNone/>
            </a:pPr>
            <a:r>
              <a:rPr lang="en-IN" dirty="0"/>
              <a:t>He hired </a:t>
            </a:r>
            <a:r>
              <a:rPr lang="en-IN" b="1" dirty="0" err="1"/>
              <a:t>bematists</a:t>
            </a:r>
            <a:r>
              <a:rPr lang="en-IN" b="1" dirty="0"/>
              <a:t>, </a:t>
            </a:r>
            <a:r>
              <a:rPr lang="en-IN" dirty="0"/>
              <a:t>highly trained surveyors who marched with perfectly equal-length steps.</a:t>
            </a:r>
          </a:p>
          <a:p>
            <a:pPr marL="0" indent="0">
              <a:buNone/>
            </a:pPr>
            <a:endParaRPr lang="en-IN" dirty="0"/>
          </a:p>
          <a:p>
            <a:pPr marL="0" indent="0">
              <a:buNone/>
            </a:pPr>
            <a:r>
              <a:rPr lang="en-IN" dirty="0"/>
              <a:t>They measured the journey at </a:t>
            </a:r>
            <a:r>
              <a:rPr lang="en-IN" b="1" dirty="0"/>
              <a:t>5,000 stadia</a:t>
            </a:r>
            <a:endParaRPr lang="en-IN" dirty="0"/>
          </a:p>
        </p:txBody>
      </p:sp>
    </p:spTree>
    <p:extLst>
      <p:ext uri="{BB962C8B-B14F-4D97-AF65-F5344CB8AC3E}">
        <p14:creationId xmlns:p14="http://schemas.microsoft.com/office/powerpoint/2010/main" val="865399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C53E3-8FAE-632F-51A0-7D40335C4C31}"/>
              </a:ext>
            </a:extLst>
          </p:cNvPr>
          <p:cNvSpPr>
            <a:spLocks noGrp="1"/>
          </p:cNvSpPr>
          <p:nvPr>
            <p:ph type="title"/>
          </p:nvPr>
        </p:nvSpPr>
        <p:spPr/>
        <p:txBody>
          <a:bodyPr/>
          <a:lstStyle/>
          <a:p>
            <a:pPr algn="ctr"/>
            <a:r>
              <a:rPr lang="en-IN" dirty="0"/>
              <a:t>The Calculation</a:t>
            </a:r>
            <a:endParaRPr lang="en-US" dirty="0"/>
          </a:p>
        </p:txBody>
      </p:sp>
      <p:pic>
        <p:nvPicPr>
          <p:cNvPr id="7170" name="Picture 2" descr="Arcs &amp; Sectors | Geometry">
            <a:extLst>
              <a:ext uri="{FF2B5EF4-FFF2-40B4-BE49-F238E27FC236}">
                <a16:creationId xmlns:a16="http://schemas.microsoft.com/office/drawing/2014/main" id="{06E1E068-9702-6573-EC30-BB90982CB3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6509" y="1870580"/>
            <a:ext cx="6040086" cy="311683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400C0B7-FF43-ED88-FD61-878BAD526938}"/>
                  </a:ext>
                </a:extLst>
              </p:cNvPr>
              <p:cNvSpPr txBox="1"/>
              <p:nvPr/>
            </p:nvSpPr>
            <p:spPr>
              <a:xfrm>
                <a:off x="101600" y="2028624"/>
                <a:ext cx="5278581" cy="37069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𝜃</m:t>
                          </m:r>
                        </m:num>
                        <m:den>
                          <m:r>
                            <a:rPr lang="en-US" b="0" i="1" smtClean="0">
                              <a:latin typeface="Cambria Math" panose="02040503050406030204" pitchFamily="18" charset="0"/>
                            </a:rPr>
                            <m:t>360</m:t>
                          </m:r>
                        </m:den>
                      </m:f>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𝑙</m:t>
                          </m:r>
                        </m:num>
                        <m:den>
                          <m:r>
                            <a:rPr lang="en-US" b="0" i="1" smtClean="0">
                              <a:latin typeface="Cambria Math" panose="02040503050406030204" pitchFamily="18" charset="0"/>
                              <a:ea typeface="Cambria Math" panose="02040503050406030204" pitchFamily="18" charset="0"/>
                            </a:rPr>
                            <m:t>𝐶𝑖𝑟𝑐𝑢𝑚𝑓𝑒𝑟𝑒𝑛𝑐𝑒</m:t>
                          </m:r>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den>
                      </m:f>
                    </m:oMath>
                  </m:oMathPara>
                </a14:m>
                <a:endParaRPr lang="en-US" b="0" dirty="0"/>
              </a:p>
              <a:p>
                <a:pPr algn="ctr"/>
                <a:endParaRPr lang="en-US" dirty="0"/>
              </a:p>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7.2</m:t>
                          </m:r>
                        </m:num>
                        <m:den>
                          <m:r>
                            <a:rPr lang="en-US" b="0" i="1" smtClean="0">
                              <a:latin typeface="Cambria Math" panose="02040503050406030204" pitchFamily="18" charset="0"/>
                            </a:rPr>
                            <m:t>360</m:t>
                          </m:r>
                        </m:den>
                      </m:f>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𝑙</m:t>
                          </m:r>
                        </m:num>
                        <m:den>
                          <m:r>
                            <a:rPr lang="en-US" b="0" i="1" smtClean="0">
                              <a:latin typeface="Cambria Math" panose="02040503050406030204" pitchFamily="18" charset="0"/>
                              <a:ea typeface="Cambria Math" panose="02040503050406030204" pitchFamily="18" charset="0"/>
                            </a:rPr>
                            <m:t>𝐶𝑖𝑟𝑐𝑢𝑚𝑓𝑒𝑟𝑒𝑛𝑐𝑒</m:t>
                          </m:r>
                        </m:den>
                      </m:f>
                    </m:oMath>
                  </m:oMathPara>
                </a14:m>
                <a:endParaRPr lang="en-US" b="0" dirty="0"/>
              </a:p>
              <a:p>
                <a:pPr algn="ctr"/>
                <a:endParaRPr lang="en-US"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𝑙</m:t>
                      </m:r>
                      <m:r>
                        <a:rPr lang="en-US" b="0" i="1" smtClean="0">
                          <a:latin typeface="Cambria Math" panose="02040503050406030204" pitchFamily="18" charset="0"/>
                        </a:rPr>
                        <m:t>=5000 </m:t>
                      </m:r>
                      <m:r>
                        <a:rPr lang="en-US" b="0" i="1" smtClean="0">
                          <a:latin typeface="Cambria Math" panose="02040503050406030204" pitchFamily="18" charset="0"/>
                        </a:rPr>
                        <m:t>𝑠𝑡𝑎𝑑𝑖𝑎</m:t>
                      </m:r>
                    </m:oMath>
                  </m:oMathPara>
                </a14:m>
                <a:endParaRPr lang="en-US" b="0"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algn="ctr"/>
                <a:r>
                  <a:rPr lang="en-US" b="0" dirty="0"/>
                  <a:t>      </a:t>
                </a:r>
                <a14:m>
                  <m:oMath xmlns:m="http://schemas.openxmlformats.org/officeDocument/2006/math">
                    <m:r>
                      <a:rPr lang="en-US" b="0" i="1" smtClean="0">
                        <a:latin typeface="Cambria Math" panose="02040503050406030204" pitchFamily="18" charset="0"/>
                      </a:rPr>
                      <m:t>1 </m:t>
                    </m:r>
                    <m:r>
                      <a:rPr lang="en-US" b="0" i="1" smtClean="0">
                        <a:latin typeface="Cambria Math" panose="02040503050406030204" pitchFamily="18" charset="0"/>
                      </a:rPr>
                      <m:t>𝑠𝑡𝑎𝑑𝑖𝑎</m:t>
                    </m:r>
                    <m:r>
                      <a:rPr lang="en-US" b="0" i="1" smtClean="0">
                        <a:latin typeface="Cambria Math" panose="02040503050406030204" pitchFamily="18" charset="0"/>
                      </a:rPr>
                      <m:t>=0.157 </m:t>
                    </m:r>
                    <m:r>
                      <a:rPr lang="en-US" b="0" i="1" smtClean="0">
                        <a:latin typeface="Cambria Math" panose="02040503050406030204" pitchFamily="18" charset="0"/>
                      </a:rPr>
                      <m:t>𝑚</m:t>
                    </m:r>
                    <m:r>
                      <a:rPr lang="en-US" b="0" i="1" smtClean="0">
                        <a:latin typeface="Cambria Math" panose="02040503050406030204" pitchFamily="18" charset="0"/>
                      </a:rPr>
                      <m:t> </m:t>
                    </m:r>
                  </m:oMath>
                </a14:m>
                <a:endParaRPr lang="en-US" b="0" dirty="0"/>
              </a:p>
              <a:p>
                <a:pPr algn="ctr"/>
                <a:r>
                  <a:rPr lang="en-US" dirty="0"/>
                  <a:t>   </a:t>
                </a:r>
              </a:p>
              <a:p>
                <a:pPr algn="ct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𝐸𝑎𝑟𝑡h</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dirty="0" smtClean="0">
                            <a:latin typeface="Cambria Math" panose="02040503050406030204" pitchFamily="18" charset="0"/>
                          </a:rPr>
                          <m:t>360 ∗5000 ∗0.157</m:t>
                        </m:r>
                      </m:num>
                      <m:den>
                        <m:r>
                          <a:rPr lang="en-US" b="0" i="1" smtClean="0">
                            <a:latin typeface="Cambria Math" panose="02040503050406030204" pitchFamily="18" charset="0"/>
                          </a:rPr>
                          <m:t>7.2∗2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den>
                    </m:f>
                    <m:r>
                      <a:rPr lang="en-US" b="0" i="1" smtClean="0">
                        <a:latin typeface="Cambria Math" panose="02040503050406030204" pitchFamily="18" charset="0"/>
                        <a:ea typeface="Cambria Math" panose="02040503050406030204" pitchFamily="18" charset="0"/>
                      </a:rPr>
                      <m:t>≈6274.68 </m:t>
                    </m:r>
                    <m:r>
                      <a:rPr lang="en-US" b="0" i="1" smtClean="0">
                        <a:latin typeface="Cambria Math" panose="02040503050406030204" pitchFamily="18" charset="0"/>
                        <a:ea typeface="Cambria Math" panose="02040503050406030204" pitchFamily="18" charset="0"/>
                      </a:rPr>
                      <m:t>𝑘𝑚</m:t>
                    </m:r>
                  </m:oMath>
                </a14:m>
                <a:endParaRPr lang="en-US" b="0" dirty="0"/>
              </a:p>
              <a:p>
                <a:endParaRPr lang="en-US" dirty="0"/>
              </a:p>
            </p:txBody>
          </p:sp>
        </mc:Choice>
        <mc:Fallback xmlns="">
          <p:sp>
            <p:nvSpPr>
              <p:cNvPr id="4" name="TextBox 3">
                <a:extLst>
                  <a:ext uri="{FF2B5EF4-FFF2-40B4-BE49-F238E27FC236}">
                    <a16:creationId xmlns:a16="http://schemas.microsoft.com/office/drawing/2014/main" id="{B400C0B7-FF43-ED88-FD61-878BAD526938}"/>
                  </a:ext>
                </a:extLst>
              </p:cNvPr>
              <p:cNvSpPr txBox="1">
                <a:spLocks noRot="1" noChangeAspect="1" noMove="1" noResize="1" noEditPoints="1" noAdjustHandles="1" noChangeArrowheads="1" noChangeShapeType="1" noTextEdit="1"/>
              </p:cNvSpPr>
              <p:nvPr/>
            </p:nvSpPr>
            <p:spPr>
              <a:xfrm>
                <a:off x="101600" y="2028624"/>
                <a:ext cx="5278581" cy="37069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0E0AE97-AAA9-37A0-D6DC-37F29D179A7B}"/>
                  </a:ext>
                </a:extLst>
              </p:cNvPr>
              <p:cNvSpPr txBox="1"/>
              <p:nvPr/>
            </p:nvSpPr>
            <p:spPr>
              <a:xfrm>
                <a:off x="101600" y="5784989"/>
                <a:ext cx="6299200" cy="707886"/>
              </a:xfrm>
              <a:prstGeom prst="rect">
                <a:avLst/>
              </a:prstGeom>
              <a:noFill/>
            </p:spPr>
            <p:txBody>
              <a:bodyPr wrap="square" rtlCol="0">
                <a:spAutoFit/>
              </a:bodyPr>
              <a:lstStyle/>
              <a:p>
                <a:r>
                  <a:rPr lang="en-US" sz="4000" b="1" dirty="0"/>
                  <a:t> </a:t>
                </a:r>
                <a14:m>
                  <m:oMath xmlns:m="http://schemas.openxmlformats.org/officeDocument/2006/math">
                    <m:sSub>
                      <m:sSubPr>
                        <m:ctrlPr>
                          <a:rPr lang="en-US" sz="4000" b="1" i="1" smtClean="0">
                            <a:latin typeface="Cambria Math" panose="02040503050406030204" pitchFamily="18" charset="0"/>
                          </a:rPr>
                        </m:ctrlPr>
                      </m:sSubPr>
                      <m:e>
                        <m:r>
                          <a:rPr lang="en-US" sz="4000" b="1" i="1" smtClean="0">
                            <a:latin typeface="Cambria Math" panose="02040503050406030204" pitchFamily="18" charset="0"/>
                          </a:rPr>
                          <m:t>𝑹</m:t>
                        </m:r>
                      </m:e>
                      <m:sub>
                        <m:r>
                          <a:rPr lang="en-US" sz="4000" b="1" i="1" smtClean="0">
                            <a:latin typeface="Cambria Math" panose="02040503050406030204" pitchFamily="18" charset="0"/>
                          </a:rPr>
                          <m:t>𝑬𝒂𝒓𝒕𝒉</m:t>
                        </m:r>
                        <m:r>
                          <a:rPr lang="en-US" sz="4000" b="1" i="1" smtClean="0">
                            <a:latin typeface="Cambria Math" panose="02040503050406030204" pitchFamily="18" charset="0"/>
                          </a:rPr>
                          <m:t>_</m:t>
                        </m:r>
                        <m:r>
                          <a:rPr lang="en-US" sz="4000" b="1" i="1" smtClean="0">
                            <a:latin typeface="Cambria Math" panose="02040503050406030204" pitchFamily="18" charset="0"/>
                          </a:rPr>
                          <m:t>𝒂𝒄𝒕𝒖𝒂𝒍</m:t>
                        </m:r>
                      </m:sub>
                    </m:sSub>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𝟔𝟒𝟎𝟎</m:t>
                    </m:r>
                    <m:r>
                      <a:rPr lang="en-US" sz="4000" b="1" i="1" smtClean="0">
                        <a:latin typeface="Cambria Math" panose="02040503050406030204" pitchFamily="18" charset="0"/>
                        <a:ea typeface="Cambria Math" panose="02040503050406030204" pitchFamily="18" charset="0"/>
                      </a:rPr>
                      <m:t> </m:t>
                    </m:r>
                    <m:r>
                      <a:rPr lang="en-US" sz="4000" b="1" i="1" smtClean="0">
                        <a:latin typeface="Cambria Math" panose="02040503050406030204" pitchFamily="18" charset="0"/>
                        <a:ea typeface="Cambria Math" panose="02040503050406030204" pitchFamily="18" charset="0"/>
                      </a:rPr>
                      <m:t>𝒌𝒎</m:t>
                    </m:r>
                  </m:oMath>
                </a14:m>
                <a:endParaRPr lang="en-US" sz="4000" b="1" dirty="0"/>
              </a:p>
            </p:txBody>
          </p:sp>
        </mc:Choice>
        <mc:Fallback xmlns="">
          <p:sp>
            <p:nvSpPr>
              <p:cNvPr id="5" name="TextBox 4">
                <a:extLst>
                  <a:ext uri="{FF2B5EF4-FFF2-40B4-BE49-F238E27FC236}">
                    <a16:creationId xmlns:a16="http://schemas.microsoft.com/office/drawing/2014/main" id="{F0E0AE97-AAA9-37A0-D6DC-37F29D179A7B}"/>
                  </a:ext>
                </a:extLst>
              </p:cNvPr>
              <p:cNvSpPr txBox="1">
                <a:spLocks noRot="1" noChangeAspect="1" noMove="1" noResize="1" noEditPoints="1" noAdjustHandles="1" noChangeArrowheads="1" noChangeShapeType="1" noTextEdit="1"/>
              </p:cNvSpPr>
              <p:nvPr/>
            </p:nvSpPr>
            <p:spPr>
              <a:xfrm>
                <a:off x="101600" y="5784989"/>
                <a:ext cx="6299200" cy="707886"/>
              </a:xfrm>
              <a:prstGeom prst="rect">
                <a:avLst/>
              </a:prstGeom>
              <a:blipFill>
                <a:blip r:embed="rId4"/>
                <a:stretch>
                  <a:fillRect t="-1754" b="-24561"/>
                </a:stretch>
              </a:blipFill>
            </p:spPr>
            <p:txBody>
              <a:bodyPr/>
              <a:lstStyle/>
              <a:p>
                <a:r>
                  <a:rPr lang="en-US">
                    <a:noFill/>
                  </a:rPr>
                  <a:t> </a:t>
                </a:r>
              </a:p>
            </p:txBody>
          </p:sp>
        </mc:Fallback>
      </mc:AlternateContent>
    </p:spTree>
    <p:extLst>
      <p:ext uri="{BB962C8B-B14F-4D97-AF65-F5344CB8AC3E}">
        <p14:creationId xmlns:p14="http://schemas.microsoft.com/office/powerpoint/2010/main" val="3850888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8B0A9-F304-4D08-2F30-A9259391DCCF}"/>
              </a:ext>
            </a:extLst>
          </p:cNvPr>
          <p:cNvSpPr>
            <a:spLocks noGrp="1"/>
          </p:cNvSpPr>
          <p:nvPr>
            <p:ph type="title"/>
          </p:nvPr>
        </p:nvSpPr>
        <p:spPr>
          <a:xfrm>
            <a:off x="368300" y="2516188"/>
            <a:ext cx="11455400" cy="1825624"/>
          </a:xfrm>
        </p:spPr>
        <p:txBody>
          <a:bodyPr>
            <a:normAutofit fontScale="90000"/>
          </a:bodyPr>
          <a:lstStyle/>
          <a:p>
            <a:pPr algn="ctr"/>
            <a:r>
              <a:rPr lang="en-US" dirty="0"/>
              <a:t>Let’s about the nearest neighbor celestial object</a:t>
            </a:r>
            <a:br>
              <a:rPr lang="en-US" dirty="0"/>
            </a:br>
            <a:br>
              <a:rPr lang="en-US" dirty="0"/>
            </a:br>
            <a:r>
              <a:rPr lang="en-US" dirty="0"/>
              <a:t>The Moon!!! </a:t>
            </a:r>
          </a:p>
        </p:txBody>
      </p:sp>
    </p:spTree>
    <p:extLst>
      <p:ext uri="{BB962C8B-B14F-4D97-AF65-F5344CB8AC3E}">
        <p14:creationId xmlns:p14="http://schemas.microsoft.com/office/powerpoint/2010/main" val="3709946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3D513-0086-D61D-45F6-78DAE448451E}"/>
              </a:ext>
            </a:extLst>
          </p:cNvPr>
          <p:cNvSpPr>
            <a:spLocks noGrp="1"/>
          </p:cNvSpPr>
          <p:nvPr>
            <p:ph type="title"/>
          </p:nvPr>
        </p:nvSpPr>
        <p:spPr/>
        <p:txBody>
          <a:bodyPr/>
          <a:lstStyle/>
          <a:p>
            <a:pPr algn="ctr"/>
            <a:r>
              <a:rPr lang="en-IN" dirty="0"/>
              <a:t>Sizing the Moon (The Lunar Eclipse)(Look at 3b1b)</a:t>
            </a:r>
            <a:endParaRPr lang="en-US" dirty="0"/>
          </a:p>
        </p:txBody>
      </p:sp>
      <p:sp>
        <p:nvSpPr>
          <p:cNvPr id="3" name="Content Placeholder 2">
            <a:extLst>
              <a:ext uri="{FF2B5EF4-FFF2-40B4-BE49-F238E27FC236}">
                <a16:creationId xmlns:a16="http://schemas.microsoft.com/office/drawing/2014/main" id="{4EC766AB-16C7-2DC0-1120-5285EBFCA1EB}"/>
              </a:ext>
            </a:extLst>
          </p:cNvPr>
          <p:cNvSpPr>
            <a:spLocks noGrp="1"/>
          </p:cNvSpPr>
          <p:nvPr>
            <p:ph idx="1"/>
          </p:nvPr>
        </p:nvSpPr>
        <p:spPr/>
        <p:txBody>
          <a:bodyPr>
            <a:normAutofit lnSpcReduction="10000"/>
          </a:bodyPr>
          <a:lstStyle/>
          <a:p>
            <a:r>
              <a:rPr lang="en-IN" dirty="0"/>
              <a:t>Aristarchus realized that a lunar eclipse is essentially the Earth projecting its own shadow onto the Moon.</a:t>
            </a:r>
          </a:p>
          <a:p>
            <a:pPr marL="0" indent="0">
              <a:buNone/>
            </a:pPr>
            <a:endParaRPr lang="en-IN" dirty="0"/>
          </a:p>
          <a:p>
            <a:r>
              <a:rPr lang="en-IN" b="1" dirty="0"/>
              <a:t>The Observation:</a:t>
            </a:r>
            <a:r>
              <a:rPr lang="en-IN" dirty="0"/>
              <a:t> By carefully watching the Moon pass through the deepest part of the shadow (the umbra), he compared the curve of the Earth's shadow to the curve of the Moon itself.</a:t>
            </a:r>
          </a:p>
          <a:p>
            <a:pPr marL="0" indent="0">
              <a:buNone/>
            </a:pPr>
            <a:endParaRPr lang="en-IN" dirty="0"/>
          </a:p>
          <a:p>
            <a:r>
              <a:rPr lang="en-IN" dirty="0"/>
              <a:t>He estimated that the Earth’s shadow was roughly </a:t>
            </a:r>
            <a:r>
              <a:rPr lang="en-IN" b="1" dirty="0"/>
              <a:t>3 times wider</a:t>
            </a:r>
            <a:r>
              <a:rPr lang="en-IN" dirty="0"/>
              <a:t> than the Moon. </a:t>
            </a:r>
            <a:r>
              <a:rPr lang="en-IN" i="1" dirty="0"/>
              <a:t>(Modern measurements show it is closer to 2.7, but his geometry was brilliant).</a:t>
            </a:r>
            <a:endParaRPr lang="en-IN" dirty="0"/>
          </a:p>
          <a:p>
            <a:pPr marL="0" indent="0">
              <a:buNone/>
            </a:pPr>
            <a:endParaRPr lang="en-US" dirty="0"/>
          </a:p>
        </p:txBody>
      </p:sp>
    </p:spTree>
    <p:extLst>
      <p:ext uri="{BB962C8B-B14F-4D97-AF65-F5344CB8AC3E}">
        <p14:creationId xmlns:p14="http://schemas.microsoft.com/office/powerpoint/2010/main" val="2869430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E3872-0935-034B-5BE4-B21E054E1D72}"/>
              </a:ext>
            </a:extLst>
          </p:cNvPr>
          <p:cNvSpPr>
            <a:spLocks noGrp="1"/>
          </p:cNvSpPr>
          <p:nvPr>
            <p:ph type="title"/>
          </p:nvPr>
        </p:nvSpPr>
        <p:spPr/>
        <p:txBody>
          <a:bodyPr/>
          <a:lstStyle/>
          <a:p>
            <a:pPr algn="ctr"/>
            <a:r>
              <a:rPr lang="en-US" dirty="0"/>
              <a:t>Phases of Moon!!!</a:t>
            </a:r>
          </a:p>
        </p:txBody>
      </p:sp>
      <p:pic>
        <p:nvPicPr>
          <p:cNvPr id="8196" name="Picture 4" descr="Background 2/6 - Lunar Phases - NAAP">
            <a:extLst>
              <a:ext uri="{FF2B5EF4-FFF2-40B4-BE49-F238E27FC236}">
                <a16:creationId xmlns:a16="http://schemas.microsoft.com/office/drawing/2014/main" id="{82B54B94-4949-1FE0-8099-BBD00A40BA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627" y="1690688"/>
            <a:ext cx="9152745" cy="4801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085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6468F-BE77-BAE0-C54B-C4883ABD64FB}"/>
              </a:ext>
            </a:extLst>
          </p:cNvPr>
          <p:cNvSpPr>
            <a:spLocks noGrp="1"/>
          </p:cNvSpPr>
          <p:nvPr>
            <p:ph type="title"/>
          </p:nvPr>
        </p:nvSpPr>
        <p:spPr>
          <a:xfrm>
            <a:off x="838199" y="497472"/>
            <a:ext cx="10515600" cy="1325563"/>
          </a:xfrm>
        </p:spPr>
        <p:txBody>
          <a:bodyPr/>
          <a:lstStyle/>
          <a:p>
            <a:pPr algn="ctr"/>
            <a:r>
              <a:rPr lang="en-US" dirty="0"/>
              <a:t>The Sun</a:t>
            </a:r>
          </a:p>
        </p:txBody>
      </p:sp>
      <p:sp>
        <p:nvSpPr>
          <p:cNvPr id="3" name="Content Placeholder 2">
            <a:extLst>
              <a:ext uri="{FF2B5EF4-FFF2-40B4-BE49-F238E27FC236}">
                <a16:creationId xmlns:a16="http://schemas.microsoft.com/office/drawing/2014/main" id="{9778AAC1-DE17-7B30-09BC-F865CA8DAD3E}"/>
              </a:ext>
            </a:extLst>
          </p:cNvPr>
          <p:cNvSpPr>
            <a:spLocks noGrp="1"/>
          </p:cNvSpPr>
          <p:nvPr>
            <p:ph idx="1"/>
          </p:nvPr>
        </p:nvSpPr>
        <p:spPr>
          <a:xfrm>
            <a:off x="541421" y="2190674"/>
            <a:ext cx="11109157" cy="4302201"/>
          </a:xfrm>
        </p:spPr>
        <p:txBody>
          <a:bodyPr>
            <a:normAutofit fontScale="92500" lnSpcReduction="10000"/>
          </a:bodyPr>
          <a:lstStyle/>
          <a:p>
            <a:r>
              <a:rPr lang="en-IN" dirty="0"/>
              <a:t>Thanks to Aristarchus, we knew the Moon's distance. But his math for the Sun was off by a factor of 20, making the Sun seem way too close and way too small.</a:t>
            </a:r>
          </a:p>
          <a:p>
            <a:r>
              <a:rPr lang="en-IN" b="1" dirty="0"/>
              <a:t>The Copernican Revolution (1543):</a:t>
            </a:r>
            <a:r>
              <a:rPr lang="en-IN" dirty="0"/>
              <a:t> Copernicus correctly placed the Sun at the centre.</a:t>
            </a:r>
          </a:p>
          <a:p>
            <a:r>
              <a:rPr lang="en-IN" b="1" dirty="0"/>
              <a:t>Kepler's Perfection (1609):</a:t>
            </a:r>
            <a:r>
              <a:rPr lang="en-IN" dirty="0"/>
              <a:t> Johannes Kepler proved exactly how the planets moved. He knew that Jupiter was exactly 5.2 times further from the Sun than Earth.</a:t>
            </a:r>
          </a:p>
          <a:p>
            <a:r>
              <a:rPr lang="en-IN" dirty="0"/>
              <a:t>By the 1600s, astronomers had a flawless, mathematically perfect map of the solar system... but they still had no idea how many </a:t>
            </a:r>
            <a:r>
              <a:rPr lang="en-IN" dirty="0" err="1"/>
              <a:t>kilometers</a:t>
            </a:r>
            <a:r>
              <a:rPr lang="en-IN" dirty="0"/>
              <a:t> were in 1 Astronomical Unit (AU). The map had no legend</a:t>
            </a:r>
          </a:p>
          <a:p>
            <a:endParaRPr lang="en-US" dirty="0"/>
          </a:p>
        </p:txBody>
      </p:sp>
    </p:spTree>
    <p:extLst>
      <p:ext uri="{BB962C8B-B14F-4D97-AF65-F5344CB8AC3E}">
        <p14:creationId xmlns:p14="http://schemas.microsoft.com/office/powerpoint/2010/main" val="3314745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54A70-0A3E-C93F-DF79-5A7559C6234F}"/>
              </a:ext>
            </a:extLst>
          </p:cNvPr>
          <p:cNvSpPr>
            <a:spLocks noGrp="1"/>
          </p:cNvSpPr>
          <p:nvPr>
            <p:ph type="title"/>
          </p:nvPr>
        </p:nvSpPr>
        <p:spPr>
          <a:xfrm>
            <a:off x="838200" y="0"/>
            <a:ext cx="10515600" cy="775306"/>
          </a:xfrm>
        </p:spPr>
        <p:txBody>
          <a:bodyPr/>
          <a:lstStyle/>
          <a:p>
            <a:pPr algn="ctr"/>
            <a:r>
              <a:rPr lang="en-IN" dirty="0"/>
              <a:t>Solar vs. Lunar Eclipses</a:t>
            </a:r>
            <a:endParaRPr lang="en-US" dirty="0"/>
          </a:p>
        </p:txBody>
      </p:sp>
      <p:sp>
        <p:nvSpPr>
          <p:cNvPr id="3" name="Content Placeholder 2">
            <a:extLst>
              <a:ext uri="{FF2B5EF4-FFF2-40B4-BE49-F238E27FC236}">
                <a16:creationId xmlns:a16="http://schemas.microsoft.com/office/drawing/2014/main" id="{9BDD477C-33A5-09F2-CB75-BAF9B4CC7927}"/>
              </a:ext>
            </a:extLst>
          </p:cNvPr>
          <p:cNvSpPr>
            <a:spLocks noGrp="1"/>
          </p:cNvSpPr>
          <p:nvPr>
            <p:ph idx="1"/>
          </p:nvPr>
        </p:nvSpPr>
        <p:spPr>
          <a:xfrm>
            <a:off x="149831" y="1045198"/>
            <a:ext cx="3661881" cy="5633003"/>
          </a:xfrm>
        </p:spPr>
        <p:txBody>
          <a:bodyPr>
            <a:noAutofit/>
          </a:bodyPr>
          <a:lstStyle/>
          <a:p>
            <a:r>
              <a:rPr lang="en-IN" sz="1600" dirty="0"/>
              <a:t>An eclipse only happens when the Sun, Earth, and Moon form a perfectly straight line.</a:t>
            </a:r>
          </a:p>
          <a:p>
            <a:pPr marL="0" indent="0">
              <a:buNone/>
            </a:pPr>
            <a:endParaRPr lang="en-IN" sz="1600" dirty="0"/>
          </a:p>
          <a:p>
            <a:r>
              <a:rPr lang="en-IN" sz="1600" b="1" dirty="0"/>
              <a:t>Lunar Eclipse (The Blood Moon):</a:t>
            </a:r>
            <a:r>
              <a:rPr lang="en-IN" sz="1600" dirty="0"/>
              <a:t> Earth passes exactly between the Sun and the Moon.</a:t>
            </a:r>
          </a:p>
          <a:p>
            <a:pPr marL="0" indent="0">
              <a:buNone/>
            </a:pPr>
            <a:endParaRPr lang="en-IN" sz="1600" dirty="0"/>
          </a:p>
          <a:p>
            <a:r>
              <a:rPr lang="en-IN" sz="1600" b="1" dirty="0"/>
              <a:t>Solar Eclipse (The Great Coincidence):</a:t>
            </a:r>
            <a:r>
              <a:rPr lang="en-IN" sz="1600" dirty="0"/>
              <a:t> The Moon passes exactly between the Sun and the Earth.</a:t>
            </a:r>
          </a:p>
          <a:p>
            <a:pPr marL="0" indent="0">
              <a:buNone/>
            </a:pPr>
            <a:endParaRPr lang="en-IN" sz="1600" dirty="0"/>
          </a:p>
          <a:p>
            <a:r>
              <a:rPr lang="en-IN" sz="1600" b="1" dirty="0"/>
              <a:t>Umbra vs. Penumbra:</a:t>
            </a:r>
            <a:r>
              <a:rPr lang="en-IN" sz="1600" dirty="0"/>
              <a:t> * </a:t>
            </a:r>
            <a:r>
              <a:rPr lang="en-IN" sz="1600" b="1" dirty="0"/>
              <a:t>Umbra:</a:t>
            </a:r>
            <a:r>
              <a:rPr lang="en-IN" sz="1600" dirty="0"/>
              <a:t> The darkest, inner part of the shadow where the light source is completely blocked (Total Eclipse).</a:t>
            </a:r>
          </a:p>
          <a:p>
            <a:pPr marL="0" indent="0">
              <a:buNone/>
            </a:pPr>
            <a:endParaRPr lang="en-IN" sz="1600" dirty="0"/>
          </a:p>
          <a:p>
            <a:pPr>
              <a:buFont typeface="Arial" panose="020B0604020202020204" pitchFamily="34" charset="0"/>
              <a:buChar char="•"/>
            </a:pPr>
            <a:r>
              <a:rPr lang="en-IN" sz="1600" b="1" dirty="0"/>
              <a:t>Penumbra:</a:t>
            </a:r>
            <a:r>
              <a:rPr lang="en-IN" sz="1600" dirty="0"/>
              <a:t> The lighter, outer shadow where the light is only partially blocked (Partial Eclipse).</a:t>
            </a:r>
          </a:p>
          <a:p>
            <a:endParaRPr lang="en-US" sz="1600" dirty="0"/>
          </a:p>
        </p:txBody>
      </p:sp>
      <p:pic>
        <p:nvPicPr>
          <p:cNvPr id="13316" name="Picture 4" descr="Solar Eclipse – Types of Solar Eclipse">
            <a:extLst>
              <a:ext uri="{FF2B5EF4-FFF2-40B4-BE49-F238E27FC236}">
                <a16:creationId xmlns:a16="http://schemas.microsoft.com/office/drawing/2014/main" id="{96685BB4-C121-B912-36BE-690D24A28A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0437" y="1372148"/>
            <a:ext cx="7130472" cy="4456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8852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653B2-9C2A-C87D-93BA-CA9EDBF42045}"/>
              </a:ext>
            </a:extLst>
          </p:cNvPr>
          <p:cNvSpPr>
            <a:spLocks noGrp="1"/>
          </p:cNvSpPr>
          <p:nvPr>
            <p:ph type="title"/>
          </p:nvPr>
        </p:nvSpPr>
        <p:spPr>
          <a:xfrm>
            <a:off x="838199" y="0"/>
            <a:ext cx="10515600" cy="1325563"/>
          </a:xfrm>
        </p:spPr>
        <p:txBody>
          <a:bodyPr/>
          <a:lstStyle/>
          <a:p>
            <a:pPr algn="ctr"/>
            <a:r>
              <a:rPr lang="en-US" dirty="0"/>
              <a:t>Solar System</a:t>
            </a:r>
          </a:p>
        </p:txBody>
      </p:sp>
      <p:pic>
        <p:nvPicPr>
          <p:cNvPr id="9222" name="Picture 6" descr="Solar system: Early views « KaiserScience">
            <a:extLst>
              <a:ext uri="{FF2B5EF4-FFF2-40B4-BE49-F238E27FC236}">
                <a16:creationId xmlns:a16="http://schemas.microsoft.com/office/drawing/2014/main" id="{FF462534-A804-E75E-2F36-856C389A1A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3935" y="1307956"/>
            <a:ext cx="8484129" cy="5286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202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39699-9847-C34B-0856-419FD21658DD}"/>
              </a:ext>
            </a:extLst>
          </p:cNvPr>
          <p:cNvSpPr>
            <a:spLocks noGrp="1"/>
          </p:cNvSpPr>
          <p:nvPr>
            <p:ph type="title"/>
          </p:nvPr>
        </p:nvSpPr>
        <p:spPr/>
        <p:txBody>
          <a:bodyPr/>
          <a:lstStyle/>
          <a:p>
            <a:pPr algn="ctr"/>
            <a:r>
              <a:rPr lang="en-IN" dirty="0"/>
              <a:t>Johannes Kepler &amp; The End of Perfect Circles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2D4122-903B-B783-729E-086469A1BC82}"/>
                  </a:ext>
                </a:extLst>
              </p:cNvPr>
              <p:cNvSpPr>
                <a:spLocks noGrp="1"/>
              </p:cNvSpPr>
              <p:nvPr>
                <p:ph idx="1"/>
              </p:nvPr>
            </p:nvSpPr>
            <p:spPr>
              <a:xfrm>
                <a:off x="838200" y="1925053"/>
                <a:ext cx="10515600" cy="4704346"/>
              </a:xfrm>
            </p:spPr>
            <p:txBody>
              <a:bodyPr>
                <a:normAutofit fontScale="92500" lnSpcReduction="20000"/>
              </a:bodyPr>
              <a:lstStyle/>
              <a:p>
                <a:r>
                  <a:rPr lang="en-IN" dirty="0">
                    <a:effectLst/>
                    <a:latin typeface="Google Sans Text"/>
                  </a:rPr>
                  <a:t>Before telescopes, Tycho Brahe spent decades recording the exact positions of the planets. Kepler inherited this data and realized a shocking truth: </a:t>
                </a:r>
                <a:r>
                  <a:rPr lang="en-IN" b="1" dirty="0">
                    <a:effectLst/>
                    <a:latin typeface="Google Sans Text"/>
                  </a:rPr>
                  <a:t>Planets do not orbit in perfect circles.</a:t>
                </a:r>
              </a:p>
              <a:p>
                <a:pPr marL="0" indent="0">
                  <a:buNone/>
                </a:pPr>
                <a:endParaRPr lang="en-IN" dirty="0">
                  <a:effectLst/>
                  <a:latin typeface="Google Sans Text"/>
                </a:endParaRPr>
              </a:p>
              <a:p>
                <a:r>
                  <a:rPr lang="en-IN" dirty="0">
                    <a:effectLst/>
                    <a:latin typeface="Google Sans Text"/>
                  </a:rPr>
                  <a:t>Planetary orbits are ellipses, with the Sun sitting at one of the two focal points, not in the exact dead </a:t>
                </a:r>
                <a:r>
                  <a:rPr lang="en-IN" dirty="0" err="1">
                    <a:effectLst/>
                    <a:latin typeface="Google Sans Text"/>
                  </a:rPr>
                  <a:t>center</a:t>
                </a:r>
                <a:r>
                  <a:rPr lang="en-IN" dirty="0">
                    <a:effectLst/>
                    <a:latin typeface="Google Sans Text"/>
                  </a:rPr>
                  <a:t>.</a:t>
                </a:r>
              </a:p>
              <a:p>
                <a:pPr marL="0" indent="0">
                  <a:buNone/>
                </a:pPr>
                <a:endParaRPr lang="en-IN" dirty="0">
                  <a:effectLst/>
                  <a:latin typeface="Google Sans Text"/>
                </a:endParaRPr>
              </a:p>
              <a:p>
                <a:r>
                  <a:rPr lang="en-IN" dirty="0">
                    <a:effectLst/>
                    <a:latin typeface="Google Sans Text"/>
                  </a:rPr>
                  <a:t>Planets do not move at a constant speed. They accelerate as they get closer to the Sun (perihelion) and slow down as they move further away (aphelion).</a:t>
                </a:r>
              </a:p>
              <a:p>
                <a:pPr marL="0" indent="0">
                  <a:buNone/>
                </a:pPr>
                <a:endParaRPr lang="en-IN" dirty="0">
                  <a:effectLst/>
                  <a:latin typeface="Google Sans Text"/>
                </a:endParaRPr>
              </a:p>
              <a:p>
                <a:r>
                  <a:rPr lang="en-IN" dirty="0">
                    <a:effectLst/>
                    <a:latin typeface="Google Sans Text"/>
                  </a:rPr>
                  <a:t>Kepler’s Third Law stated that a planet's orbital period squared is proportional to its average distance cubed: </a:t>
                </a:r>
                <a14:m>
                  <m:oMath xmlns:m="http://schemas.openxmlformats.org/officeDocument/2006/math">
                    <m:sSup>
                      <m:sSupPr>
                        <m:ctrlPr>
                          <a:rPr lang="en-IN" i="1" smtClean="0">
                            <a:effectLst/>
                            <a:latin typeface="Cambria Math" panose="02040503050406030204" pitchFamily="18" charset="0"/>
                          </a:rPr>
                        </m:ctrlPr>
                      </m:sSupPr>
                      <m:e>
                        <m:r>
                          <a:rPr lang="en-US" b="0" i="1" smtClean="0">
                            <a:effectLst/>
                            <a:latin typeface="Cambria Math" panose="02040503050406030204" pitchFamily="18" charset="0"/>
                          </a:rPr>
                          <m:t>𝑇</m:t>
                        </m:r>
                      </m:e>
                      <m:sup>
                        <m:r>
                          <a:rPr lang="en-US" b="0" i="1" smtClean="0">
                            <a:effectLst/>
                            <a:latin typeface="Cambria Math" panose="02040503050406030204" pitchFamily="18" charset="0"/>
                          </a:rPr>
                          <m:t>2</m:t>
                        </m:r>
                      </m:sup>
                    </m:sSup>
                    <m:r>
                      <a:rPr lang="en-US" b="0" i="1" smtClean="0">
                        <a:effectLst/>
                        <a:latin typeface="Cambria Math" panose="02040503050406030204" pitchFamily="18" charset="0"/>
                      </a:rPr>
                      <m:t>=</m:t>
                    </m:r>
                    <m:sSup>
                      <m:sSupPr>
                        <m:ctrlPr>
                          <a:rPr lang="en-IN" i="1" smtClean="0">
                            <a:effectLst/>
                            <a:latin typeface="Cambria Math" panose="02040503050406030204" pitchFamily="18" charset="0"/>
                          </a:rPr>
                        </m:ctrlPr>
                      </m:sSupPr>
                      <m:e>
                        <m:r>
                          <a:rPr lang="en-US" b="0" i="1" smtClean="0">
                            <a:effectLst/>
                            <a:latin typeface="Cambria Math" panose="02040503050406030204" pitchFamily="18" charset="0"/>
                          </a:rPr>
                          <m:t>𝑅</m:t>
                        </m:r>
                      </m:e>
                      <m:sup>
                        <m:r>
                          <a:rPr lang="en-US" b="0" i="1" smtClean="0">
                            <a:effectLst/>
                            <a:latin typeface="Cambria Math" panose="02040503050406030204" pitchFamily="18" charset="0"/>
                          </a:rPr>
                          <m:t>3</m:t>
                        </m:r>
                      </m:sup>
                    </m:sSup>
                  </m:oMath>
                </a14:m>
                <a:endParaRPr lang="en-IN" dirty="0">
                  <a:effectLst/>
                  <a:latin typeface="Google Sans Text"/>
                </a:endParaRPr>
              </a:p>
              <a:p>
                <a:endParaRPr lang="en-US" dirty="0"/>
              </a:p>
            </p:txBody>
          </p:sp>
        </mc:Choice>
        <mc:Fallback xmlns="">
          <p:sp>
            <p:nvSpPr>
              <p:cNvPr id="3" name="Content Placeholder 2">
                <a:extLst>
                  <a:ext uri="{FF2B5EF4-FFF2-40B4-BE49-F238E27FC236}">
                    <a16:creationId xmlns:a16="http://schemas.microsoft.com/office/drawing/2014/main" id="{002D4122-903B-B783-729E-086469A1BC82}"/>
                  </a:ext>
                </a:extLst>
              </p:cNvPr>
              <p:cNvSpPr>
                <a:spLocks noGrp="1" noRot="1" noChangeAspect="1" noMove="1" noResize="1" noEditPoints="1" noAdjustHandles="1" noChangeArrowheads="1" noChangeShapeType="1" noTextEdit="1"/>
              </p:cNvSpPr>
              <p:nvPr>
                <p:ph idx="1"/>
              </p:nvPr>
            </p:nvSpPr>
            <p:spPr>
              <a:xfrm>
                <a:off x="838200" y="1925053"/>
                <a:ext cx="10515600" cy="4704346"/>
              </a:xfrm>
              <a:blipFill>
                <a:blip r:embed="rId2"/>
                <a:stretch>
                  <a:fillRect l="-965" t="-3235" r="-1689"/>
                </a:stretch>
              </a:blipFill>
            </p:spPr>
            <p:txBody>
              <a:bodyPr/>
              <a:lstStyle/>
              <a:p>
                <a:r>
                  <a:rPr lang="en-US">
                    <a:noFill/>
                  </a:rPr>
                  <a:t> </a:t>
                </a:r>
              </a:p>
            </p:txBody>
          </p:sp>
        </mc:Fallback>
      </mc:AlternateContent>
    </p:spTree>
    <p:extLst>
      <p:ext uri="{BB962C8B-B14F-4D97-AF65-F5344CB8AC3E}">
        <p14:creationId xmlns:p14="http://schemas.microsoft.com/office/powerpoint/2010/main" val="763108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22E60-8CDC-A8AE-815F-CEBF6A56B9F9}"/>
              </a:ext>
            </a:extLst>
          </p:cNvPr>
          <p:cNvSpPr>
            <a:spLocks noGrp="1"/>
          </p:cNvSpPr>
          <p:nvPr>
            <p:ph type="title"/>
          </p:nvPr>
        </p:nvSpPr>
        <p:spPr/>
        <p:txBody>
          <a:bodyPr/>
          <a:lstStyle/>
          <a:p>
            <a:pPr algn="ctr"/>
            <a:r>
              <a:rPr lang="en-US" dirty="0"/>
              <a:t>Kepler's laws of planetary motion </a:t>
            </a:r>
          </a:p>
        </p:txBody>
      </p:sp>
      <p:pic>
        <p:nvPicPr>
          <p:cNvPr id="10244" name="Picture 4" descr="Kepler's Laws Diagram | Quizlet">
            <a:extLst>
              <a:ext uri="{FF2B5EF4-FFF2-40B4-BE49-F238E27FC236}">
                <a16:creationId xmlns:a16="http://schemas.microsoft.com/office/drawing/2014/main" id="{F6999FBC-FFAD-2BE8-6AC1-E71F133E8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105" y="1725812"/>
            <a:ext cx="8301790" cy="5132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633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A6E55-4D16-1B85-3726-7C14349CBF20}"/>
              </a:ext>
            </a:extLst>
          </p:cNvPr>
          <p:cNvSpPr>
            <a:spLocks noGrp="1"/>
          </p:cNvSpPr>
          <p:nvPr>
            <p:ph type="title"/>
          </p:nvPr>
        </p:nvSpPr>
        <p:spPr>
          <a:xfrm>
            <a:off x="838200" y="280904"/>
            <a:ext cx="10515600" cy="1325563"/>
          </a:xfrm>
        </p:spPr>
        <p:txBody>
          <a:bodyPr/>
          <a:lstStyle/>
          <a:p>
            <a:pPr algn="ctr"/>
            <a:r>
              <a:rPr lang="en-IN" dirty="0"/>
              <a:t>Asteroids vs Comets</a:t>
            </a:r>
            <a:endParaRPr lang="en-US" dirty="0"/>
          </a:p>
        </p:txBody>
      </p:sp>
      <p:sp>
        <p:nvSpPr>
          <p:cNvPr id="3" name="Content Placeholder 2">
            <a:extLst>
              <a:ext uri="{FF2B5EF4-FFF2-40B4-BE49-F238E27FC236}">
                <a16:creationId xmlns:a16="http://schemas.microsoft.com/office/drawing/2014/main" id="{DB4CFF8D-60A7-10E3-2574-7FAE021717CA}"/>
              </a:ext>
            </a:extLst>
          </p:cNvPr>
          <p:cNvSpPr>
            <a:spLocks noGrp="1"/>
          </p:cNvSpPr>
          <p:nvPr>
            <p:ph idx="1"/>
          </p:nvPr>
        </p:nvSpPr>
        <p:spPr>
          <a:xfrm>
            <a:off x="421105" y="1933909"/>
            <a:ext cx="11586411" cy="4351338"/>
          </a:xfrm>
        </p:spPr>
        <p:txBody>
          <a:bodyPr>
            <a:normAutofit/>
          </a:bodyPr>
          <a:lstStyle/>
          <a:p>
            <a:r>
              <a:rPr lang="en-IN" b="1" dirty="0"/>
              <a:t>Asteroids (The Rocky Leftovers):</a:t>
            </a:r>
            <a:r>
              <a:rPr lang="en-IN" dirty="0"/>
              <a:t> Mostly found in the Asteroid Belt between Mars and Jupiter. Because they formed </a:t>
            </a:r>
            <a:r>
              <a:rPr lang="en-IN" i="1" dirty="0"/>
              <a:t>inside</a:t>
            </a:r>
            <a:r>
              <a:rPr lang="en-IN" dirty="0"/>
              <a:t> the Frost Line, they are made of dry rock and heavy metals.</a:t>
            </a:r>
          </a:p>
          <a:p>
            <a:endParaRPr lang="en-IN" dirty="0"/>
          </a:p>
          <a:p>
            <a:pPr marL="0" indent="0">
              <a:buNone/>
            </a:pPr>
            <a:endParaRPr lang="en-IN" dirty="0"/>
          </a:p>
          <a:p>
            <a:r>
              <a:rPr lang="en-IN" b="1" dirty="0"/>
              <a:t>Comets (The Icy Leftovers):</a:t>
            </a:r>
            <a:r>
              <a:rPr lang="en-IN" dirty="0"/>
              <a:t> Found in the Kuiper Belt (past Neptune) and the Oort Cloud. Because they formed </a:t>
            </a:r>
            <a:r>
              <a:rPr lang="en-IN" i="1" dirty="0"/>
              <a:t>outside</a:t>
            </a:r>
            <a:r>
              <a:rPr lang="en-IN" dirty="0"/>
              <a:t> the Frost Line, they are "dirty snowballs"—mixtures of water ice, frozen gases, and dark dust.</a:t>
            </a:r>
          </a:p>
          <a:p>
            <a:endParaRPr lang="en-US" dirty="0"/>
          </a:p>
        </p:txBody>
      </p:sp>
    </p:spTree>
    <p:extLst>
      <p:ext uri="{BB962C8B-B14F-4D97-AF65-F5344CB8AC3E}">
        <p14:creationId xmlns:p14="http://schemas.microsoft.com/office/powerpoint/2010/main" val="1274154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98A28-5051-9B08-DE1A-EE0A3FC0DE7E}"/>
              </a:ext>
            </a:extLst>
          </p:cNvPr>
          <p:cNvSpPr>
            <a:spLocks noGrp="1"/>
          </p:cNvSpPr>
          <p:nvPr>
            <p:ph type="title"/>
          </p:nvPr>
        </p:nvSpPr>
        <p:spPr>
          <a:xfrm>
            <a:off x="838200" y="2766218"/>
            <a:ext cx="10515600" cy="1325563"/>
          </a:xfrm>
        </p:spPr>
        <p:txBody>
          <a:bodyPr>
            <a:normAutofit/>
          </a:bodyPr>
          <a:lstStyle/>
          <a:p>
            <a:r>
              <a:rPr lang="en-US" dirty="0"/>
              <a:t>What else is there to see in the night sky??!!</a:t>
            </a:r>
          </a:p>
        </p:txBody>
      </p:sp>
    </p:spTree>
    <p:extLst>
      <p:ext uri="{BB962C8B-B14F-4D97-AF65-F5344CB8AC3E}">
        <p14:creationId xmlns:p14="http://schemas.microsoft.com/office/powerpoint/2010/main" val="2060271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C97FC-B270-DCB4-99D5-E8A930B2D38A}"/>
              </a:ext>
            </a:extLst>
          </p:cNvPr>
          <p:cNvSpPr>
            <a:spLocks noGrp="1"/>
          </p:cNvSpPr>
          <p:nvPr>
            <p:ph type="title"/>
          </p:nvPr>
        </p:nvSpPr>
        <p:spPr>
          <a:xfrm>
            <a:off x="838200" y="1076218"/>
            <a:ext cx="10515600" cy="4705564"/>
          </a:xfrm>
        </p:spPr>
        <p:txBody>
          <a:bodyPr>
            <a:normAutofit/>
          </a:bodyPr>
          <a:lstStyle/>
          <a:p>
            <a:pPr algn="ctr"/>
            <a:r>
              <a:rPr lang="en-US" dirty="0"/>
              <a:t>Yes!! You guessed it right </a:t>
            </a:r>
            <a:br>
              <a:rPr lang="en-US" dirty="0"/>
            </a:br>
            <a:br>
              <a:rPr lang="en-US" dirty="0"/>
            </a:br>
            <a:r>
              <a:rPr lang="en-US" dirty="0"/>
              <a:t>Stars!!!</a:t>
            </a:r>
            <a:br>
              <a:rPr lang="en-US" dirty="0"/>
            </a:br>
            <a:br>
              <a:rPr lang="en-US" dirty="0"/>
            </a:br>
            <a:r>
              <a:rPr lang="en-US" dirty="0"/>
              <a:t>But </a:t>
            </a:r>
            <a:r>
              <a:rPr lang="en-IN" dirty="0"/>
              <a:t>Why Did the Ancients Look Up?</a:t>
            </a:r>
            <a:endParaRPr lang="en-US" dirty="0"/>
          </a:p>
        </p:txBody>
      </p:sp>
    </p:spTree>
    <p:extLst>
      <p:ext uri="{BB962C8B-B14F-4D97-AF65-F5344CB8AC3E}">
        <p14:creationId xmlns:p14="http://schemas.microsoft.com/office/powerpoint/2010/main" val="2502649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3ABBBC-C72B-2A54-C38E-4CA56F0F1B63}"/>
              </a:ext>
            </a:extLst>
          </p:cNvPr>
          <p:cNvSpPr>
            <a:spLocks noGrp="1"/>
          </p:cNvSpPr>
          <p:nvPr>
            <p:ph idx="1"/>
          </p:nvPr>
        </p:nvSpPr>
        <p:spPr>
          <a:xfrm>
            <a:off x="838200" y="417084"/>
            <a:ext cx="10515600" cy="6023832"/>
          </a:xfrm>
        </p:spPr>
        <p:txBody>
          <a:bodyPr>
            <a:normAutofit lnSpcReduction="10000"/>
          </a:bodyPr>
          <a:lstStyle/>
          <a:p>
            <a:r>
              <a:rPr lang="en-IN" b="1" dirty="0"/>
              <a:t>The Ultimate Clock and Calendar:</a:t>
            </a:r>
            <a:r>
              <a:rPr lang="en-IN" dirty="0"/>
              <a:t> For ancient civilizations, reading the stars was not just philosophy; it was a matter of survival.</a:t>
            </a:r>
          </a:p>
          <a:p>
            <a:pPr marL="0" indent="0">
              <a:buNone/>
            </a:pPr>
            <a:endParaRPr lang="en-IN" dirty="0"/>
          </a:p>
          <a:p>
            <a:r>
              <a:rPr lang="en-IN" b="1" dirty="0"/>
              <a:t>Agriculture:</a:t>
            </a:r>
            <a:r>
              <a:rPr lang="en-IN" dirty="0"/>
              <a:t> The ancient Egyptians knew that when the bright star Sirius first became visible just before sunrise, the Nile was about to flood, bringing fertile soil.</a:t>
            </a:r>
          </a:p>
          <a:p>
            <a:pPr marL="0" indent="0">
              <a:buNone/>
            </a:pPr>
            <a:endParaRPr lang="en-IN" dirty="0"/>
          </a:p>
          <a:p>
            <a:r>
              <a:rPr lang="en-IN" b="1" dirty="0"/>
              <a:t>Navigation:</a:t>
            </a:r>
            <a:r>
              <a:rPr lang="en-IN" dirty="0"/>
              <a:t> Polynesian </a:t>
            </a:r>
            <a:r>
              <a:rPr lang="en-IN" dirty="0" err="1"/>
              <a:t>wayfinders</a:t>
            </a:r>
            <a:r>
              <a:rPr lang="en-IN" dirty="0"/>
              <a:t> memorized the rising and setting points of specific stars to navigate thousands of miles across the open Pacific Ocean without a compass.</a:t>
            </a:r>
          </a:p>
          <a:p>
            <a:pPr marL="0" indent="0">
              <a:buNone/>
            </a:pPr>
            <a:endParaRPr lang="en-IN" dirty="0"/>
          </a:p>
          <a:p>
            <a:r>
              <a:rPr lang="en-IN" b="1" dirty="0"/>
              <a:t>Mythology:</a:t>
            </a:r>
            <a:r>
              <a:rPr lang="en-IN" dirty="0"/>
              <a:t> To remember these complex stellar clocks, humans naturally applied "Pattern Recognition," projecting their heroes, gods, and monsters onto the scattered dots of light.</a:t>
            </a:r>
          </a:p>
          <a:p>
            <a:endParaRPr lang="en-US" dirty="0"/>
          </a:p>
        </p:txBody>
      </p:sp>
    </p:spTree>
    <p:extLst>
      <p:ext uri="{BB962C8B-B14F-4D97-AF65-F5344CB8AC3E}">
        <p14:creationId xmlns:p14="http://schemas.microsoft.com/office/powerpoint/2010/main" val="3168302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F7A46-B52B-4108-3818-0B08582CC9CC}"/>
              </a:ext>
            </a:extLst>
          </p:cNvPr>
          <p:cNvSpPr>
            <a:spLocks noGrp="1"/>
          </p:cNvSpPr>
          <p:nvPr>
            <p:ph type="title"/>
          </p:nvPr>
        </p:nvSpPr>
        <p:spPr>
          <a:xfrm>
            <a:off x="838200" y="0"/>
            <a:ext cx="10515600" cy="976045"/>
          </a:xfrm>
        </p:spPr>
        <p:txBody>
          <a:bodyPr/>
          <a:lstStyle/>
          <a:p>
            <a:pPr algn="ctr"/>
            <a:r>
              <a:rPr lang="en-IN" dirty="0"/>
              <a:t>Drawing Lines in the Sky</a:t>
            </a:r>
            <a:endParaRPr lang="en-US" dirty="0"/>
          </a:p>
        </p:txBody>
      </p:sp>
      <p:sp>
        <p:nvSpPr>
          <p:cNvPr id="3" name="Content Placeholder 2">
            <a:extLst>
              <a:ext uri="{FF2B5EF4-FFF2-40B4-BE49-F238E27FC236}">
                <a16:creationId xmlns:a16="http://schemas.microsoft.com/office/drawing/2014/main" id="{99EACB08-C236-8BDF-007F-C9496105419C}"/>
              </a:ext>
            </a:extLst>
          </p:cNvPr>
          <p:cNvSpPr>
            <a:spLocks noGrp="1"/>
          </p:cNvSpPr>
          <p:nvPr>
            <p:ph idx="1"/>
          </p:nvPr>
        </p:nvSpPr>
        <p:spPr>
          <a:xfrm>
            <a:off x="499153" y="1325563"/>
            <a:ext cx="4329701" cy="5964149"/>
          </a:xfrm>
        </p:spPr>
        <p:txBody>
          <a:bodyPr>
            <a:normAutofit fontScale="77500" lnSpcReduction="20000"/>
          </a:bodyPr>
          <a:lstStyle/>
          <a:p>
            <a:r>
              <a:rPr lang="en-IN" b="1" dirty="0"/>
              <a:t>Asterism (The Shape):</a:t>
            </a:r>
            <a:r>
              <a:rPr lang="en-IN" dirty="0"/>
              <a:t> A recognizable pattern of stars.</a:t>
            </a:r>
          </a:p>
          <a:p>
            <a:pPr marL="0" indent="0">
              <a:buNone/>
            </a:pPr>
            <a:endParaRPr lang="en-IN" dirty="0"/>
          </a:p>
          <a:p>
            <a:r>
              <a:rPr lang="en-IN" b="1" dirty="0"/>
              <a:t>Constellation (The Territory):</a:t>
            </a:r>
            <a:r>
              <a:rPr lang="en-IN" dirty="0"/>
              <a:t> In 1922, the International Astronomical Union (IAU) divided the entire night sky into </a:t>
            </a:r>
            <a:r>
              <a:rPr lang="en-IN" b="1" dirty="0"/>
              <a:t>88 official constellations</a:t>
            </a:r>
            <a:r>
              <a:rPr lang="en-IN" dirty="0"/>
              <a:t>.</a:t>
            </a:r>
          </a:p>
          <a:p>
            <a:pPr marL="0" indent="0">
              <a:buNone/>
            </a:pPr>
            <a:endParaRPr lang="en-IN" dirty="0"/>
          </a:p>
          <a:p>
            <a:pPr marL="0" indent="0">
              <a:buNone/>
            </a:pPr>
            <a:r>
              <a:rPr lang="en-IN" i="1" dirty="0"/>
              <a:t>Example:</a:t>
            </a:r>
            <a:r>
              <a:rPr lang="en-IN" dirty="0"/>
              <a:t> Ursa Major (The   Great Bear).</a:t>
            </a:r>
          </a:p>
          <a:p>
            <a:pPr marL="0" indent="0">
              <a:buNone/>
            </a:pPr>
            <a:endParaRPr lang="en-IN" dirty="0"/>
          </a:p>
          <a:p>
            <a:r>
              <a:rPr lang="en-IN" b="1" dirty="0"/>
              <a:t>The Modern Definition:</a:t>
            </a:r>
            <a:r>
              <a:rPr lang="en-IN" dirty="0"/>
              <a:t> Today, a constellation is not just the stick-figure picture. It is a specific, bordered region of the sky. Every single star, galaxy, or black hole falls within the borders of one of these 88 puzzle pieces.</a:t>
            </a:r>
          </a:p>
        </p:txBody>
      </p:sp>
      <p:pic>
        <p:nvPicPr>
          <p:cNvPr id="11270" name="Picture 6" descr="Virgo (constellation) - Wikipedia">
            <a:extLst>
              <a:ext uri="{FF2B5EF4-FFF2-40B4-BE49-F238E27FC236}">
                <a16:creationId xmlns:a16="http://schemas.microsoft.com/office/drawing/2014/main" id="{EDE0F0F9-6BE7-9808-0718-7FBEC724C0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4729" y="1207655"/>
            <a:ext cx="6418118" cy="5445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75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868DD-739F-9306-70FB-8A0E867A0164}"/>
              </a:ext>
            </a:extLst>
          </p:cNvPr>
          <p:cNvSpPr>
            <a:spLocks noGrp="1"/>
          </p:cNvSpPr>
          <p:nvPr>
            <p:ph type="title"/>
          </p:nvPr>
        </p:nvSpPr>
        <p:spPr/>
        <p:txBody>
          <a:bodyPr/>
          <a:lstStyle/>
          <a:p>
            <a:r>
              <a:rPr lang="en-IN" dirty="0"/>
              <a:t>The Celestial Sphere</a:t>
            </a:r>
            <a:endParaRPr lang="en-US" dirty="0"/>
          </a:p>
        </p:txBody>
      </p:sp>
      <p:sp>
        <p:nvSpPr>
          <p:cNvPr id="3" name="Content Placeholder 2">
            <a:extLst>
              <a:ext uri="{FF2B5EF4-FFF2-40B4-BE49-F238E27FC236}">
                <a16:creationId xmlns:a16="http://schemas.microsoft.com/office/drawing/2014/main" id="{12C1F53B-A83C-C301-D1A5-77B444DAE483}"/>
              </a:ext>
            </a:extLst>
          </p:cNvPr>
          <p:cNvSpPr>
            <a:spLocks noGrp="1"/>
          </p:cNvSpPr>
          <p:nvPr>
            <p:ph idx="1"/>
          </p:nvPr>
        </p:nvSpPr>
        <p:spPr>
          <a:xfrm>
            <a:off x="571072" y="2031108"/>
            <a:ext cx="6620838" cy="4351338"/>
          </a:xfrm>
        </p:spPr>
        <p:txBody>
          <a:bodyPr/>
          <a:lstStyle/>
          <a:p>
            <a:r>
              <a:rPr lang="en-IN" b="1" dirty="0"/>
              <a:t>North/South Celestial Poles:</a:t>
            </a:r>
            <a:r>
              <a:rPr lang="en-IN" dirty="0"/>
              <a:t> The exact points in the sky directly above Earth's physical poles. As Earth spins, the entire sky appears to rotate around these points.</a:t>
            </a:r>
          </a:p>
          <a:p>
            <a:r>
              <a:rPr lang="en-IN" b="1" dirty="0"/>
              <a:t>Celestial Equator:</a:t>
            </a:r>
            <a:r>
              <a:rPr lang="en-IN" dirty="0"/>
              <a:t> Earth's equator projected infinitely outward into space.</a:t>
            </a:r>
          </a:p>
          <a:p>
            <a:r>
              <a:rPr lang="en-IN" b="1" dirty="0"/>
              <a:t>The Ecliptic:</a:t>
            </a:r>
            <a:r>
              <a:rPr lang="en-IN" dirty="0"/>
              <a:t> The apparent path the Sun takes across the stars over the course of a year.</a:t>
            </a:r>
          </a:p>
          <a:p>
            <a:endParaRPr lang="en-US" dirty="0"/>
          </a:p>
        </p:txBody>
      </p:sp>
      <p:pic>
        <p:nvPicPr>
          <p:cNvPr id="12292" name="Picture 4" descr="Starry Messenger: The Celestial Sphere">
            <a:extLst>
              <a:ext uri="{FF2B5EF4-FFF2-40B4-BE49-F238E27FC236}">
                <a16:creationId xmlns:a16="http://schemas.microsoft.com/office/drawing/2014/main" id="{CB16F116-BEE3-2F0B-4A30-C838E5408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8951" y="1392934"/>
            <a:ext cx="4687413" cy="4989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695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A4BF3-B7FF-4F8D-5AFF-A2AA355D23F4}"/>
              </a:ext>
            </a:extLst>
          </p:cNvPr>
          <p:cNvSpPr>
            <a:spLocks noGrp="1"/>
          </p:cNvSpPr>
          <p:nvPr>
            <p:ph type="title"/>
          </p:nvPr>
        </p:nvSpPr>
        <p:spPr/>
        <p:txBody>
          <a:bodyPr>
            <a:normAutofit/>
          </a:bodyPr>
          <a:lstStyle/>
          <a:p>
            <a:r>
              <a:rPr lang="en-US" sz="4000" dirty="0"/>
              <a:t>Time keeping : </a:t>
            </a:r>
            <a:r>
              <a:rPr lang="en-IN" sz="4000" dirty="0"/>
              <a:t>Solar Time vs. Star Time (Sidereal)</a:t>
            </a:r>
            <a:endParaRPr lang="en-US" sz="4000" dirty="0"/>
          </a:p>
        </p:txBody>
      </p:sp>
      <p:sp>
        <p:nvSpPr>
          <p:cNvPr id="3" name="Content Placeholder 2">
            <a:extLst>
              <a:ext uri="{FF2B5EF4-FFF2-40B4-BE49-F238E27FC236}">
                <a16:creationId xmlns:a16="http://schemas.microsoft.com/office/drawing/2014/main" id="{C110F45A-D592-529A-DA92-5313D29BF24C}"/>
              </a:ext>
            </a:extLst>
          </p:cNvPr>
          <p:cNvSpPr>
            <a:spLocks noGrp="1"/>
          </p:cNvSpPr>
          <p:nvPr>
            <p:ph idx="1"/>
          </p:nvPr>
        </p:nvSpPr>
        <p:spPr/>
        <p:txBody>
          <a:bodyPr>
            <a:normAutofit lnSpcReduction="10000"/>
          </a:bodyPr>
          <a:lstStyle/>
          <a:p>
            <a:r>
              <a:rPr lang="en-IN" b="1" dirty="0">
                <a:effectLst/>
                <a:latin typeface="Google Sans Text"/>
              </a:rPr>
              <a:t>The Sidereal Day (Star Time):</a:t>
            </a:r>
            <a:r>
              <a:rPr lang="en-IN" dirty="0">
                <a:effectLst/>
                <a:latin typeface="Google Sans Text"/>
              </a:rPr>
              <a:t> How long it takes the Earth to spin exactly 360 degrees on its axis.</a:t>
            </a:r>
          </a:p>
          <a:p>
            <a:pPr marL="0" indent="0">
              <a:buNone/>
            </a:pPr>
            <a:r>
              <a:rPr lang="en-IN" i="1" dirty="0">
                <a:effectLst/>
                <a:latin typeface="Google Sans Text"/>
              </a:rPr>
              <a:t>Length:</a:t>
            </a:r>
            <a:r>
              <a:rPr lang="en-IN" dirty="0">
                <a:effectLst/>
                <a:latin typeface="Google Sans Text"/>
              </a:rPr>
              <a:t> </a:t>
            </a:r>
            <a:r>
              <a:rPr lang="en-IN" b="1" dirty="0">
                <a:effectLst/>
                <a:latin typeface="Google Sans Text"/>
              </a:rPr>
              <a:t>23 hours, 56 minutes, and 4 seconds</a:t>
            </a:r>
            <a:r>
              <a:rPr lang="en-IN" dirty="0">
                <a:effectLst/>
                <a:latin typeface="Google Sans Text"/>
              </a:rPr>
              <a:t>.</a:t>
            </a:r>
          </a:p>
          <a:p>
            <a:pPr marL="0" indent="0">
              <a:buNone/>
            </a:pPr>
            <a:endParaRPr lang="en-IN" dirty="0">
              <a:effectLst/>
              <a:latin typeface="Google Sans Text"/>
            </a:endParaRPr>
          </a:p>
          <a:p>
            <a:pPr>
              <a:buFont typeface="Arial" panose="020B0604020202020204" pitchFamily="34" charset="0"/>
              <a:buChar char="•"/>
            </a:pPr>
            <a:r>
              <a:rPr lang="en-IN" dirty="0">
                <a:effectLst/>
                <a:latin typeface="Google Sans Text"/>
              </a:rPr>
              <a:t>If you measure when a star crosses your meridian, it will take exactly this long to cross it again.</a:t>
            </a:r>
          </a:p>
          <a:p>
            <a:pPr marL="0" indent="0">
              <a:buNone/>
            </a:pPr>
            <a:endParaRPr lang="en-IN" dirty="0">
              <a:effectLst/>
              <a:latin typeface="Google Sans Text"/>
            </a:endParaRPr>
          </a:p>
          <a:p>
            <a:r>
              <a:rPr lang="en-IN" b="1" dirty="0">
                <a:effectLst/>
                <a:latin typeface="Google Sans Text"/>
              </a:rPr>
              <a:t>The Solar Day (Sun Time):</a:t>
            </a:r>
            <a:r>
              <a:rPr lang="en-IN" dirty="0">
                <a:effectLst/>
                <a:latin typeface="Google Sans Text"/>
              </a:rPr>
              <a:t> How long it takes for the </a:t>
            </a:r>
            <a:r>
              <a:rPr lang="en-IN" i="1" dirty="0">
                <a:effectLst/>
                <a:latin typeface="Google Sans Text"/>
              </a:rPr>
              <a:t>Sun</a:t>
            </a:r>
            <a:r>
              <a:rPr lang="en-IN" dirty="0">
                <a:effectLst/>
                <a:latin typeface="Google Sans Text"/>
              </a:rPr>
              <a:t> to cross your meridian, leave, and cross it again.</a:t>
            </a:r>
          </a:p>
          <a:p>
            <a:pPr marL="0" indent="0">
              <a:buNone/>
            </a:pPr>
            <a:r>
              <a:rPr lang="en-IN" i="1" dirty="0">
                <a:effectLst/>
                <a:latin typeface="Google Sans Text"/>
              </a:rPr>
              <a:t>Length:</a:t>
            </a:r>
            <a:r>
              <a:rPr lang="en-IN" dirty="0">
                <a:effectLst/>
                <a:latin typeface="Google Sans Text"/>
              </a:rPr>
              <a:t> </a:t>
            </a:r>
            <a:r>
              <a:rPr lang="en-IN" b="1" dirty="0">
                <a:effectLst/>
                <a:latin typeface="Google Sans Text"/>
              </a:rPr>
              <a:t>Exactly 24 hours</a:t>
            </a:r>
            <a:r>
              <a:rPr lang="en-IN" dirty="0">
                <a:effectLst/>
                <a:latin typeface="Google Sans Text"/>
              </a:rPr>
              <a:t>.</a:t>
            </a:r>
          </a:p>
          <a:p>
            <a:endParaRPr lang="en-US" dirty="0"/>
          </a:p>
        </p:txBody>
      </p:sp>
    </p:spTree>
    <p:extLst>
      <p:ext uri="{BB962C8B-B14F-4D97-AF65-F5344CB8AC3E}">
        <p14:creationId xmlns:p14="http://schemas.microsoft.com/office/powerpoint/2010/main" val="937973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3890C-7E7F-98B9-8060-FEC1E8B39DC1}"/>
              </a:ext>
            </a:extLst>
          </p:cNvPr>
          <p:cNvSpPr>
            <a:spLocks noGrp="1"/>
          </p:cNvSpPr>
          <p:nvPr>
            <p:ph type="title"/>
          </p:nvPr>
        </p:nvSpPr>
        <p:spPr/>
        <p:txBody>
          <a:bodyPr/>
          <a:lstStyle/>
          <a:p>
            <a:pPr algn="ctr"/>
            <a:r>
              <a:rPr lang="en-IN" dirty="0"/>
              <a:t>The Two Types of "Months"</a:t>
            </a:r>
            <a:endParaRPr lang="en-US" dirty="0"/>
          </a:p>
        </p:txBody>
      </p:sp>
      <p:sp>
        <p:nvSpPr>
          <p:cNvPr id="3" name="Content Placeholder 2">
            <a:extLst>
              <a:ext uri="{FF2B5EF4-FFF2-40B4-BE49-F238E27FC236}">
                <a16:creationId xmlns:a16="http://schemas.microsoft.com/office/drawing/2014/main" id="{58D8D9F6-DB14-515D-FD83-C2B740938322}"/>
              </a:ext>
            </a:extLst>
          </p:cNvPr>
          <p:cNvSpPr>
            <a:spLocks noGrp="1"/>
          </p:cNvSpPr>
          <p:nvPr>
            <p:ph idx="1"/>
          </p:nvPr>
        </p:nvSpPr>
        <p:spPr/>
        <p:txBody>
          <a:bodyPr/>
          <a:lstStyle/>
          <a:p>
            <a:r>
              <a:rPr lang="en-IN" b="1" dirty="0">
                <a:effectLst/>
                <a:latin typeface="Google Sans Text"/>
              </a:rPr>
              <a:t>The Sidereal Month (The True Orbit):</a:t>
            </a:r>
            <a:r>
              <a:rPr lang="en-IN" dirty="0">
                <a:effectLst/>
                <a:latin typeface="Google Sans Text"/>
              </a:rPr>
              <a:t> How long it takes the Moon to complete one 360 degrees orbit around the Earth relative to the background stars.</a:t>
            </a:r>
          </a:p>
          <a:p>
            <a:pPr marL="0" indent="0">
              <a:buNone/>
            </a:pPr>
            <a:endParaRPr lang="en-IN" dirty="0">
              <a:effectLst/>
              <a:latin typeface="Google Sans Text"/>
            </a:endParaRPr>
          </a:p>
          <a:p>
            <a:r>
              <a:rPr lang="en-IN" b="1" dirty="0">
                <a:effectLst/>
                <a:latin typeface="Google Sans Text"/>
              </a:rPr>
              <a:t>The Synodic Month (The Lunar Phases):</a:t>
            </a:r>
            <a:r>
              <a:rPr lang="en-IN" dirty="0">
                <a:effectLst/>
                <a:latin typeface="Google Sans Text"/>
              </a:rPr>
              <a:t> How long it takes to go from one Full Moon to the next Full Moon.</a:t>
            </a:r>
          </a:p>
          <a:p>
            <a:endParaRPr lang="en-US" dirty="0"/>
          </a:p>
          <a:p>
            <a:pPr marL="0" indent="0" algn="ctr">
              <a:buNone/>
            </a:pPr>
            <a:r>
              <a:rPr lang="en-US" sz="4800" dirty="0"/>
              <a:t>Which one is longer????</a:t>
            </a:r>
          </a:p>
        </p:txBody>
      </p:sp>
    </p:spTree>
    <p:extLst>
      <p:ext uri="{BB962C8B-B14F-4D97-AF65-F5344CB8AC3E}">
        <p14:creationId xmlns:p14="http://schemas.microsoft.com/office/powerpoint/2010/main" val="2388729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21CC6-2A89-C8C6-161D-1DCA45156F39}"/>
              </a:ext>
            </a:extLst>
          </p:cNvPr>
          <p:cNvSpPr>
            <a:spLocks noGrp="1"/>
          </p:cNvSpPr>
          <p:nvPr>
            <p:ph type="title"/>
          </p:nvPr>
        </p:nvSpPr>
        <p:spPr>
          <a:xfrm>
            <a:off x="838200" y="87722"/>
            <a:ext cx="10515600" cy="1325563"/>
          </a:xfrm>
        </p:spPr>
        <p:txBody>
          <a:bodyPr/>
          <a:lstStyle/>
          <a:p>
            <a:pPr algn="ctr"/>
            <a:r>
              <a:rPr lang="en-IN" dirty="0"/>
              <a:t>The Calendar Problem</a:t>
            </a:r>
            <a:endParaRPr lang="en-US" dirty="0"/>
          </a:p>
        </p:txBody>
      </p:sp>
      <p:sp>
        <p:nvSpPr>
          <p:cNvPr id="3" name="Content Placeholder 2">
            <a:extLst>
              <a:ext uri="{FF2B5EF4-FFF2-40B4-BE49-F238E27FC236}">
                <a16:creationId xmlns:a16="http://schemas.microsoft.com/office/drawing/2014/main" id="{24E0525D-D13A-BC5B-30DD-7E09255D4C5A}"/>
              </a:ext>
            </a:extLst>
          </p:cNvPr>
          <p:cNvSpPr>
            <a:spLocks noGrp="1"/>
          </p:cNvSpPr>
          <p:nvPr>
            <p:ph idx="1"/>
          </p:nvPr>
        </p:nvSpPr>
        <p:spPr>
          <a:xfrm>
            <a:off x="838200" y="1517400"/>
            <a:ext cx="10515600" cy="4351338"/>
          </a:xfrm>
        </p:spPr>
        <p:txBody>
          <a:bodyPr>
            <a:noAutofit/>
          </a:bodyPr>
          <a:lstStyle/>
          <a:p>
            <a:r>
              <a:rPr lang="en-IN" sz="2000" b="1" dirty="0"/>
              <a:t>The Tropical Year:</a:t>
            </a:r>
            <a:r>
              <a:rPr lang="en-IN" sz="2000" dirty="0"/>
              <a:t> Our calendar is based on the seasons (from one Vernal Equinox to the next). Because of the Earth's "wobble" (Precession) that we just learned about, this year is slightly shorter than a true orbital year.</a:t>
            </a:r>
          </a:p>
          <a:p>
            <a:endParaRPr lang="en-IN" sz="2000" dirty="0"/>
          </a:p>
          <a:p>
            <a:r>
              <a:rPr lang="en-IN" sz="2000" b="1" dirty="0"/>
              <a:t>The Messy Math:</a:t>
            </a:r>
            <a:r>
              <a:rPr lang="en-IN" sz="2000" dirty="0"/>
              <a:t> A Tropical Year is not exactly 365 days. It is </a:t>
            </a:r>
            <a:r>
              <a:rPr lang="en-IN" sz="2000" b="1" dirty="0"/>
              <a:t>365.2422 days</a:t>
            </a:r>
            <a:r>
              <a:rPr lang="en-IN" sz="2000" dirty="0"/>
              <a:t>.</a:t>
            </a:r>
          </a:p>
          <a:p>
            <a:endParaRPr lang="en-IN" sz="2000" dirty="0"/>
          </a:p>
          <a:p>
            <a:r>
              <a:rPr lang="en-IN" sz="2000" b="1" dirty="0"/>
              <a:t>The Julian Fix (46 B.C.):</a:t>
            </a:r>
            <a:r>
              <a:rPr lang="en-IN" sz="2000" dirty="0"/>
              <a:t> Julius Caesar realized the seasons were drifting. He added an extra</a:t>
            </a:r>
          </a:p>
          <a:p>
            <a:r>
              <a:rPr lang="en-IN" sz="2000" dirty="0"/>
              <a:t>      day every 4 years (The Leap Year).</a:t>
            </a:r>
          </a:p>
          <a:p>
            <a:endParaRPr lang="en-IN" sz="2000" dirty="0"/>
          </a:p>
          <a:p>
            <a:r>
              <a:rPr lang="en-IN" sz="2000" dirty="0"/>
              <a:t>This assumes a year is 365.25 days. That is mathematically 11 minutes too long! After 1,500 years, the calendar had drifted by 10 full days.</a:t>
            </a:r>
          </a:p>
          <a:p>
            <a:endParaRPr lang="en-IN" sz="2000" dirty="0"/>
          </a:p>
          <a:p>
            <a:r>
              <a:rPr lang="en-IN" sz="2000" b="1" dirty="0"/>
              <a:t>The Gregorian Fix (1582 A.D.):</a:t>
            </a:r>
            <a:r>
              <a:rPr lang="en-IN" sz="2000" dirty="0"/>
              <a:t> Pope Gregory XIII fixed the math with a brilliant rule: Every 4th year is a leap year, </a:t>
            </a:r>
            <a:r>
              <a:rPr lang="en-IN" sz="2000" i="1" dirty="0"/>
              <a:t>except</a:t>
            </a:r>
            <a:r>
              <a:rPr lang="en-IN" sz="2000" dirty="0"/>
              <a:t> century years (like 1700, 1800, 1900), </a:t>
            </a:r>
            <a:r>
              <a:rPr lang="en-IN" sz="2000" i="1" dirty="0"/>
              <a:t>unless</a:t>
            </a:r>
            <a:r>
              <a:rPr lang="en-IN" sz="2000" dirty="0"/>
              <a:t> they are divisible by 400 (like 2000).</a:t>
            </a:r>
          </a:p>
          <a:p>
            <a:endParaRPr lang="en-US" sz="2000" dirty="0"/>
          </a:p>
        </p:txBody>
      </p:sp>
    </p:spTree>
    <p:extLst>
      <p:ext uri="{BB962C8B-B14F-4D97-AF65-F5344CB8AC3E}">
        <p14:creationId xmlns:p14="http://schemas.microsoft.com/office/powerpoint/2010/main" val="3856266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12DA9-D39B-3151-FB53-A816C7721091}"/>
              </a:ext>
            </a:extLst>
          </p:cNvPr>
          <p:cNvSpPr>
            <a:spLocks noGrp="1"/>
          </p:cNvSpPr>
          <p:nvPr>
            <p:ph type="title"/>
          </p:nvPr>
        </p:nvSpPr>
        <p:spPr/>
        <p:txBody>
          <a:bodyPr/>
          <a:lstStyle/>
          <a:p>
            <a:pPr algn="ctr"/>
            <a:r>
              <a:rPr lang="en-IN" dirty="0"/>
              <a:t>The Naked-Eye Universe</a:t>
            </a:r>
            <a:endParaRPr lang="en-US" dirty="0"/>
          </a:p>
        </p:txBody>
      </p:sp>
      <p:sp>
        <p:nvSpPr>
          <p:cNvPr id="3" name="Content Placeholder 2">
            <a:extLst>
              <a:ext uri="{FF2B5EF4-FFF2-40B4-BE49-F238E27FC236}">
                <a16:creationId xmlns:a16="http://schemas.microsoft.com/office/drawing/2014/main" id="{07F6A320-A3E4-453C-B807-E3044874B60A}"/>
              </a:ext>
            </a:extLst>
          </p:cNvPr>
          <p:cNvSpPr>
            <a:spLocks noGrp="1"/>
          </p:cNvSpPr>
          <p:nvPr>
            <p:ph idx="1"/>
          </p:nvPr>
        </p:nvSpPr>
        <p:spPr/>
        <p:txBody>
          <a:bodyPr>
            <a:normAutofit lnSpcReduction="10000"/>
          </a:bodyPr>
          <a:lstStyle/>
          <a:p>
            <a:r>
              <a:rPr lang="en-IN" dirty="0"/>
              <a:t>We started with a stick in the ground in Egypt to measure the Earth, used shadows to measure the Moon, and used angles to find the Sun.</a:t>
            </a:r>
          </a:p>
          <a:p>
            <a:pPr marL="0" indent="0">
              <a:buNone/>
            </a:pPr>
            <a:endParaRPr lang="en-IN" dirty="0"/>
          </a:p>
          <a:p>
            <a:r>
              <a:rPr lang="en-IN" dirty="0"/>
              <a:t>We mapped the chaotic sky onto a grid (Right Ascension and Declination) that every professional telescope uses today.</a:t>
            </a:r>
          </a:p>
          <a:p>
            <a:endParaRPr lang="en-IN" dirty="0"/>
          </a:p>
          <a:p>
            <a:r>
              <a:rPr lang="en-IN" dirty="0"/>
              <a:t>We realized that our days, months, and years are not just numbers on a calendar; they are the direct physical consequence of spinning and orbiting through space.</a:t>
            </a:r>
          </a:p>
          <a:p>
            <a:endParaRPr lang="en-US" dirty="0"/>
          </a:p>
        </p:txBody>
      </p:sp>
    </p:spTree>
    <p:extLst>
      <p:ext uri="{BB962C8B-B14F-4D97-AF65-F5344CB8AC3E}">
        <p14:creationId xmlns:p14="http://schemas.microsoft.com/office/powerpoint/2010/main" val="1147249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1879</TotalTime>
  <Words>1671</Words>
  <Application>Microsoft Macintosh PowerPoint</Application>
  <PresentationFormat>Widescreen</PresentationFormat>
  <Paragraphs>146</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Cambria Math</vt:lpstr>
      <vt:lpstr>Google Sans Text</vt:lpstr>
      <vt:lpstr>Office Theme</vt:lpstr>
      <vt:lpstr> Lecture : 1  Basics of Astronomy and Astrophysics </vt:lpstr>
      <vt:lpstr>Cosmic Distance Ladder </vt:lpstr>
      <vt:lpstr>Let’s start with the very place we call HOME!!  The EARTH</vt:lpstr>
      <vt:lpstr>The Earthly Grid: Latitude &amp; Longitude</vt:lpstr>
      <vt:lpstr>Story Time!!   About how humans found the radius of Earth </vt:lpstr>
      <vt:lpstr>From Aesthetics to Evidence</vt:lpstr>
      <vt:lpstr>Eratosthenes of Cyrene (240 B.C.)</vt:lpstr>
      <vt:lpstr>The Experiment</vt:lpstr>
      <vt:lpstr>The Execution – Walking the Distance</vt:lpstr>
      <vt:lpstr>The Calculation</vt:lpstr>
      <vt:lpstr>Let’s about the nearest neighbor celestial object  The Moon!!! </vt:lpstr>
      <vt:lpstr>Sizing the Moon (The Lunar Eclipse)(Look at 3b1b)</vt:lpstr>
      <vt:lpstr>Phases of Moon!!!</vt:lpstr>
      <vt:lpstr>The Sun</vt:lpstr>
      <vt:lpstr>Solar vs. Lunar Eclipses</vt:lpstr>
      <vt:lpstr>Solar System</vt:lpstr>
      <vt:lpstr>Johannes Kepler &amp; The End of Perfect Circles</vt:lpstr>
      <vt:lpstr>Kepler's laws of planetary motion </vt:lpstr>
      <vt:lpstr>Asteroids vs Comets</vt:lpstr>
      <vt:lpstr>What else is there to see in the night sky??!!</vt:lpstr>
      <vt:lpstr>Yes!! You guessed it right   Stars!!!  But Why Did the Ancients Look Up?</vt:lpstr>
      <vt:lpstr>PowerPoint Presentation</vt:lpstr>
      <vt:lpstr>Drawing Lines in the Sky</vt:lpstr>
      <vt:lpstr>The Celestial Sphere</vt:lpstr>
      <vt:lpstr>Time keeping : Solar Time vs. Star Time (Sidereal)</vt:lpstr>
      <vt:lpstr>The Two Types of "Months"</vt:lpstr>
      <vt:lpstr>The Calendar Problem</vt:lpstr>
      <vt:lpstr>The Naked-Eye Universe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Rachh</dc:creator>
  <cp:lastModifiedBy>Gaurav Rachh</cp:lastModifiedBy>
  <cp:revision>1</cp:revision>
  <dcterms:created xsi:type="dcterms:W3CDTF">2026-03-02T07:04:19Z</dcterms:created>
  <dcterms:modified xsi:type="dcterms:W3CDTF">2026-03-04T04:50:53Z</dcterms:modified>
</cp:coreProperties>
</file>